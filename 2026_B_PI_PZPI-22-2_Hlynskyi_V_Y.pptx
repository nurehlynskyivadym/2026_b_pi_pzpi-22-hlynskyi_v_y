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1" r:id="rId6"/>
    <p:sldId id="260" r:id="rId7"/>
    <p:sldId id="263" r:id="rId8"/>
    <p:sldId id="264" r:id="rId9"/>
    <p:sldId id="265" r:id="rId10"/>
    <p:sldId id="266" r:id="rId11"/>
    <p:sldId id="273" r:id="rId12"/>
    <p:sldId id="272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404A6-CBFF-E1B5-3C23-3C170F05E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AD58AA-2CCC-4572-EE2B-249A46282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98FA9D-8545-65DA-BE47-1D56A8947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4F42B-E22F-D304-0CA1-8AA82F7D7BF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6782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21533-9D1D-6007-4C46-5F08CB95D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D5F85-2584-C7C3-46C7-FAC09E76D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02256A-B535-4598-D65D-CD780BD5A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A4E07-6DAE-E6F3-0740-337C23843FF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8919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20FEB-D1B2-7F4C-BCFF-021A20E4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B8B5C-79BD-E459-2CCD-026DC6E05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27E3B-6FAA-456F-F61D-4B6A9BD7C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02208-3BB8-4F27-4EED-6EE670F2E19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33987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355934D-C9B8-45CD-A68A-FF63BF02F9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63D1EF-CE5D-4EF4-818D-A3BD46549100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428750" cy="95250"/>
          </a:xfrm>
          <a:prstGeom prst="rect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F46814-4731-4AD5-8969-471E4FA987A8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67085"/>
                </a:solidFill>
              </a:defRPr>
            </a:pPr>
            <a:r>
              <a:rPr sz="1400" b="1" dirty="0">
                <a:solidFill>
                  <a:srgbClr val="667085"/>
                </a:solidFill>
              </a:rPr>
              <a:t>КВАЛІФІКАЦІЙНА РОБОТА БАКАЛАВРА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D2312E-9BD6-42F9-A98A-1E25615CB277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334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17202A"/>
                </a:solidFill>
              </a:defRPr>
            </a:pPr>
            <a:r>
              <a:rPr sz="4350" b="1">
                <a:solidFill>
                  <a:srgbClr val="17202A"/>
                </a:solidFill>
              </a:rPr>
              <a:t>Momentum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97F27B-CD73-4922-A0BC-F2FD80FDD833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8096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A"/>
                </a:solidFill>
              </a:defRPr>
            </a:pPr>
            <a:r>
              <a:rPr sz="2550" b="1">
                <a:solidFill>
                  <a:srgbClr val="17202A"/>
                </a:solidFill>
              </a:rPr>
              <a:t>Інформаційна система відстеження</a:t>
            </a:r>
          </a:p>
          <a:p>
            <a:pPr algn="l">
              <a:defRPr sz="2550" b="1">
                <a:solidFill>
                  <a:srgbClr val="17202A"/>
                </a:solidFill>
              </a:defRPr>
            </a:pPr>
            <a:r>
              <a:rPr sz="2550" b="1">
                <a:solidFill>
                  <a:srgbClr val="17202A"/>
                </a:solidFill>
              </a:rPr>
              <a:t>завдань та досягнень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343B5D4-8572-485B-ACEF-5AB0555D0F70}"/>
              </a:ext>
            </a:extLst>
          </p:cNvPr>
          <p:cNvSpPr>
            <a:spLocks noGrp="1"/>
          </p:cNvSpPr>
          <p:nvPr/>
        </p:nvSpPr>
        <p:spPr>
          <a:xfrm>
            <a:off x="8991600" y="1295400"/>
            <a:ext cx="2076450" cy="20764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A0E2B9-67D0-460A-9A3B-069CEC9EC13C}"/>
              </a:ext>
            </a:extLst>
          </p:cNvPr>
          <p:cNvSpPr>
            <a:spLocks noGrp="1"/>
          </p:cNvSpPr>
          <p:nvPr/>
        </p:nvSpPr>
        <p:spPr>
          <a:xfrm>
            <a:off x="8991600" y="1757363"/>
            <a:ext cx="20764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6900" b="1">
                <a:solidFill>
                  <a:srgbClr val="17202A"/>
                </a:solidFill>
              </a:defRPr>
            </a:pPr>
            <a:r>
              <a:rPr sz="6900" b="1" dirty="0">
                <a:solidFill>
                  <a:srgbClr val="17202A"/>
                </a:solidFill>
              </a:rPr>
              <a:t>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491B18-F17C-4E55-B99B-D48C9D578ADC}"/>
              </a:ext>
            </a:extLst>
          </p:cNvPr>
          <p:cNvSpPr>
            <a:spLocks noGrp="1"/>
          </p:cNvSpPr>
          <p:nvPr/>
        </p:nvSpPr>
        <p:spPr>
          <a:xfrm>
            <a:off x="685800" y="4419600"/>
            <a:ext cx="10820400" cy="9525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89A1BE-5162-425E-8072-3CB996A81E9A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rPr lang="uk-UA" sz="1400" dirty="0">
                <a:solidFill>
                  <a:srgbClr val="667085"/>
                </a:solidFill>
              </a:rPr>
              <a:t>Харківський національний університет </a:t>
            </a:r>
            <a:r>
              <a:rPr lang="uk-UA" sz="1400" dirty="0" err="1">
                <a:solidFill>
                  <a:srgbClr val="667085"/>
                </a:solidFill>
              </a:rPr>
              <a:t>радіоелектроники</a:t>
            </a:r>
            <a:endParaRPr sz="1400" b="0" dirty="0">
              <a:solidFill>
                <a:srgbClr val="667085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9D0972-DADF-424A-8626-B03F05F1CCCD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</a:defRPr>
            </a:pPr>
            <a:r>
              <a:rPr sz="1600" b="0" dirty="0" err="1">
                <a:solidFill>
                  <a:srgbClr val="17202A"/>
                </a:solidFill>
              </a:rPr>
              <a:t>Виконав</a:t>
            </a:r>
            <a:r>
              <a:rPr sz="1600" b="0" dirty="0">
                <a:solidFill>
                  <a:srgbClr val="17202A"/>
                </a:solidFill>
              </a:rPr>
              <a:t>: </a:t>
            </a:r>
            <a:r>
              <a:rPr lang="uk-UA" sz="1600" b="0" dirty="0" err="1">
                <a:solidFill>
                  <a:srgbClr val="17202A"/>
                </a:solidFill>
              </a:rPr>
              <a:t>ст.гр</a:t>
            </a:r>
            <a:r>
              <a:rPr lang="uk-UA" sz="1600" dirty="0">
                <a:solidFill>
                  <a:srgbClr val="17202A"/>
                </a:solidFill>
              </a:rPr>
              <a:t>. ПЗПІ-22-2 Глинський Вадим Юрійович</a:t>
            </a:r>
            <a:endParaRPr sz="1600" b="0" dirty="0">
              <a:solidFill>
                <a:srgbClr val="17202A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398CE7-103A-4C31-BA8C-25274998D07A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</a:defRPr>
            </a:pPr>
            <a:r>
              <a:rPr lang="uk-UA" sz="1600" dirty="0">
                <a:solidFill>
                  <a:srgbClr val="17202A"/>
                </a:solidFill>
              </a:rPr>
              <a:t>Науковий к</a:t>
            </a:r>
            <a:r>
              <a:rPr sz="1600" b="0" dirty="0" err="1">
                <a:solidFill>
                  <a:srgbClr val="17202A"/>
                </a:solidFill>
              </a:rPr>
              <a:t>ерівник</a:t>
            </a:r>
            <a:r>
              <a:rPr sz="1600" b="0" dirty="0">
                <a:solidFill>
                  <a:srgbClr val="17202A"/>
                </a:solidFill>
              </a:rPr>
              <a:t>:</a:t>
            </a:r>
            <a:r>
              <a:rPr lang="uk-UA" sz="1600" b="0" dirty="0">
                <a:solidFill>
                  <a:srgbClr val="17202A"/>
                </a:solidFill>
              </a:rPr>
              <a:t> доц. каф. ПІ </a:t>
            </a:r>
            <a:r>
              <a:rPr lang="uk-UA" sz="1600" b="0" dirty="0" err="1">
                <a:solidFill>
                  <a:srgbClr val="17202A"/>
                </a:solidFill>
              </a:rPr>
              <a:t>Каук</a:t>
            </a:r>
            <a:r>
              <a:rPr lang="uk-UA" sz="1600" b="0" dirty="0">
                <a:solidFill>
                  <a:srgbClr val="17202A"/>
                </a:solidFill>
              </a:rPr>
              <a:t> Віктор Іванович</a:t>
            </a:r>
            <a:endParaRPr sz="1600" b="0" dirty="0">
              <a:solidFill>
                <a:srgbClr val="17202A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6F82F5-1159-4226-B04A-7C02F1DCAC00}"/>
              </a:ext>
            </a:extLst>
          </p:cNvPr>
          <p:cNvSpPr>
            <a:spLocks noGrp="1"/>
          </p:cNvSpPr>
          <p:nvPr/>
        </p:nvSpPr>
        <p:spPr>
          <a:xfrm>
            <a:off x="10382250" y="615315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667085"/>
                </a:solidFill>
              </a:defRPr>
            </a:pPr>
            <a:r>
              <a:rPr sz="1400" b="1" dirty="0">
                <a:solidFill>
                  <a:srgbClr val="667085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435480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D23C15E-4D48-4858-9862-37861F3DEC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E6FF23-5342-475F-AACA-66A3C5E1CCE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67085"/>
                </a:solidFill>
              </a:defRPr>
            </a:pPr>
            <a:r>
              <a:rPr sz="1400" b="1" dirty="0">
                <a:solidFill>
                  <a:srgbClr val="667085"/>
                </a:solidFill>
              </a:rPr>
              <a:t>МЕТА РОБОТИ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3EC3A5-6B32-4774-BB24-244C3B252DB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Momentum об’єднує задачі, мотивацію та командну роботу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6619C1-21B8-471D-A6E5-914485C5E353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10820400" cy="19050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29F959-3DBD-4951-9698-4D2DCF736ED6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953293-DEFB-44B9-865A-DC8735127660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1000" b="0" dirty="0" err="1">
                <a:solidFill>
                  <a:srgbClr val="667085"/>
                </a:solidFill>
              </a:rPr>
              <a:t>Інформаційна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система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відстеження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завдань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та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досягнень</a:t>
            </a:r>
            <a:endParaRPr sz="1000" b="0" dirty="0">
              <a:solidFill>
                <a:srgbClr val="667085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0839D5-F79A-4435-9642-15E288018E6F}"/>
              </a:ext>
            </a:extLst>
          </p:cNvPr>
          <p:cNvSpPr>
            <a:spLocks noGrp="1"/>
          </p:cNvSpPr>
          <p:nvPr/>
        </p:nvSpPr>
        <p:spPr>
          <a:xfrm>
            <a:off x="11029950" y="6534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1400" b="1" dirty="0">
                <a:solidFill>
                  <a:srgbClr val="667085"/>
                </a:solidFill>
              </a:rPr>
              <a:t>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05F534D-6CED-4674-857E-CDE1ADA053D8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143000" cy="304800"/>
          </a:xfrm>
          <a:prstGeom prst="roundRect">
            <a:avLst>
              <a:gd name="adj" fmla="val 18750"/>
            </a:avLst>
          </a:prstGeom>
          <a:solidFill>
            <a:srgbClr val="FFF5C2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C182EA-03A6-488B-97F3-92CEDB44D72A}"/>
              </a:ext>
            </a:extLst>
          </p:cNvPr>
          <p:cNvSpPr>
            <a:spLocks noGrp="1"/>
          </p:cNvSpPr>
          <p:nvPr/>
        </p:nvSpPr>
        <p:spPr>
          <a:xfrm>
            <a:off x="800100" y="19145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7202A"/>
                </a:solidFill>
              </a:defRPr>
            </a:pPr>
            <a:r>
              <a:rPr sz="900" b="1">
                <a:solidFill>
                  <a:srgbClr val="17202A"/>
                </a:solidFill>
              </a:rPr>
              <a:t>МЕТА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6C990C-7E77-42BA-B181-805C009B538B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Створити вебсистему, яка підтримує повний цикл продуктивності: від постановки задачі до аналітики, винагороди та взаємодії з командою.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C291DF0-D300-4725-9DAF-FBEF00627BCB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34F4EC-E70B-44BD-9B06-35A89FBE1998}"/>
              </a:ext>
            </a:extLst>
          </p:cNvPr>
          <p:cNvSpPr>
            <a:spLocks noGrp="1"/>
          </p:cNvSpPr>
          <p:nvPr/>
        </p:nvSpPr>
        <p:spPr>
          <a:xfrm>
            <a:off x="914400" y="3524250"/>
            <a:ext cx="4819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202A"/>
                </a:solidFill>
              </a:defRPr>
            </a:pPr>
            <a:r>
              <a:rPr sz="1650" b="0" dirty="0" err="1">
                <a:solidFill>
                  <a:srgbClr val="17202A"/>
                </a:solidFill>
              </a:rPr>
              <a:t>Спроєктувати</a:t>
            </a:r>
            <a:r>
              <a:rPr sz="1650" b="0" dirty="0">
                <a:solidFill>
                  <a:srgbClr val="17202A"/>
                </a:solidFill>
              </a:rPr>
              <a:t> </a:t>
            </a:r>
            <a:r>
              <a:rPr sz="1650" b="0" dirty="0" err="1">
                <a:solidFill>
                  <a:srgbClr val="17202A"/>
                </a:solidFill>
              </a:rPr>
              <a:t>клієнт-серверну</a:t>
            </a:r>
            <a:r>
              <a:rPr sz="1650" b="0" dirty="0">
                <a:solidFill>
                  <a:srgbClr val="17202A"/>
                </a:solidFill>
              </a:rPr>
              <a:t> </a:t>
            </a:r>
            <a:r>
              <a:rPr sz="1650" b="0" dirty="0" err="1">
                <a:solidFill>
                  <a:srgbClr val="17202A"/>
                </a:solidFill>
              </a:rPr>
              <a:t>архітектуру</a:t>
            </a:r>
            <a:r>
              <a:rPr sz="1650" b="0" dirty="0">
                <a:solidFill>
                  <a:srgbClr val="17202A"/>
                </a:solidFill>
              </a:rPr>
              <a:t> з </a:t>
            </a:r>
            <a:r>
              <a:rPr sz="1650" b="0" dirty="0" err="1">
                <a:solidFill>
                  <a:srgbClr val="17202A"/>
                </a:solidFill>
              </a:rPr>
              <a:t>контролем</a:t>
            </a:r>
            <a:r>
              <a:rPr sz="1650" b="0" dirty="0">
                <a:solidFill>
                  <a:srgbClr val="17202A"/>
                </a:solidFill>
              </a:rPr>
              <a:t> </a:t>
            </a:r>
            <a:r>
              <a:rPr sz="1650" b="0" dirty="0" err="1">
                <a:solidFill>
                  <a:srgbClr val="17202A"/>
                </a:solidFill>
              </a:rPr>
              <a:t>доступу</a:t>
            </a:r>
            <a:r>
              <a:rPr sz="1650" b="0" dirty="0">
                <a:solidFill>
                  <a:srgbClr val="17202A"/>
                </a:solidFill>
              </a:rPr>
              <a:t>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2D4E6E5-2E78-4A40-8EF9-AEFFC8CB4283}"/>
              </a:ext>
            </a:extLst>
          </p:cNvPr>
          <p:cNvSpPr>
            <a:spLocks noGrp="1"/>
          </p:cNvSpPr>
          <p:nvPr/>
        </p:nvSpPr>
        <p:spPr>
          <a:xfrm>
            <a:off x="6191250" y="3619500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684534-8FAD-49D6-A28C-9EAB5B2CD1E8}"/>
              </a:ext>
            </a:extLst>
          </p:cNvPr>
          <p:cNvSpPr>
            <a:spLocks noGrp="1"/>
          </p:cNvSpPr>
          <p:nvPr/>
        </p:nvSpPr>
        <p:spPr>
          <a:xfrm>
            <a:off x="6419850" y="3524250"/>
            <a:ext cx="5086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Реалізувати задачі, статистику, соціальні функції, групи й гейміфікацію.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175EF65-61D5-4729-8586-F9819607BBB9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8038CE-C52B-4CDC-8AFD-CBE2BAD9378E}"/>
              </a:ext>
            </a:extLst>
          </p:cNvPr>
          <p:cNvSpPr>
            <a:spLocks noGrp="1"/>
          </p:cNvSpPr>
          <p:nvPr/>
        </p:nvSpPr>
        <p:spPr>
          <a:xfrm>
            <a:off x="914400" y="4552950"/>
            <a:ext cx="4819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Забезпечити реєстрацію, підтвердження email, відновлення пароля та керування сесіями.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27F5940-1046-4C48-953A-53B05502BBE2}"/>
              </a:ext>
            </a:extLst>
          </p:cNvPr>
          <p:cNvSpPr>
            <a:spLocks noGrp="1"/>
          </p:cNvSpPr>
          <p:nvPr/>
        </p:nvSpPr>
        <p:spPr>
          <a:xfrm>
            <a:off x="6191250" y="4648200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9A7AAE-BD41-4558-9B04-1381D0A2B62F}"/>
              </a:ext>
            </a:extLst>
          </p:cNvPr>
          <p:cNvSpPr>
            <a:spLocks noGrp="1"/>
          </p:cNvSpPr>
          <p:nvPr/>
        </p:nvSpPr>
        <p:spPr>
          <a:xfrm>
            <a:off x="6419850" y="4552950"/>
            <a:ext cx="5086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Перевірити ключові сценарії автоматизованими тестами.</a:t>
            </a:r>
          </a:p>
        </p:txBody>
      </p:sp>
    </p:spTree>
    <p:extLst>
      <p:ext uri="{BB962C8B-B14F-4D97-AF65-F5344CB8AC3E}">
        <p14:creationId xmlns:p14="http://schemas.microsoft.com/office/powerpoint/2010/main" val="1602336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8B8E6AB-372F-472B-BE12-3491426616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D8F9EF-28AB-4475-A705-86085BA8EF3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67085"/>
                </a:solidFill>
              </a:defRPr>
            </a:pPr>
            <a:r>
              <a:rPr sz="1400" b="1" dirty="0">
                <a:solidFill>
                  <a:srgbClr val="667085"/>
                </a:solidFill>
              </a:rPr>
              <a:t>АНАЛІЗ ПРОБЛЕМИ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3840E6-6580-498C-A99D-3AEA1E8B1EDD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Завершення завдання запускає новий цикл мотивації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5BE68-BE53-4C91-87AB-C5D742BD574F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10820400" cy="19050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D155B0-B928-4240-B3A7-DE2BE7FD406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7A8E9E-5CB4-45D6-8DE7-14277EC44648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1000" b="0" dirty="0" err="1">
                <a:solidFill>
                  <a:srgbClr val="667085"/>
                </a:solidFill>
              </a:rPr>
              <a:t>Інформаційна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система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відстеження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завдань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та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досягнень</a:t>
            </a:r>
            <a:endParaRPr sz="1000" b="0" dirty="0">
              <a:solidFill>
                <a:srgbClr val="667085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28E113-BD37-425B-A0DA-A37F7C8B9059}"/>
              </a:ext>
            </a:extLst>
          </p:cNvPr>
          <p:cNvSpPr>
            <a:spLocks noGrp="1"/>
          </p:cNvSpPr>
          <p:nvPr/>
        </p:nvSpPr>
        <p:spPr>
          <a:xfrm>
            <a:off x="11029950" y="6534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1400" b="1" dirty="0">
                <a:solidFill>
                  <a:srgbClr val="667085"/>
                </a:solidFill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16065E-93F4-4878-8236-1E1D463A1D1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Звичайний планувальник закінчує взаємодію після позначки «виконано». Momentum повертає результат користувачу у вигляді прогресу, соціального відгуку й аналітики.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903F265-4462-494E-9F6C-8F287887A4BE}"/>
              </a:ext>
            </a:extLst>
          </p:cNvPr>
          <p:cNvSpPr>
            <a:spLocks noGrp="1"/>
          </p:cNvSpPr>
          <p:nvPr/>
        </p:nvSpPr>
        <p:spPr>
          <a:xfrm>
            <a:off x="1238250" y="2609850"/>
            <a:ext cx="9715500" cy="35052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17333" y="2743200"/>
            <a:ext cx="5757333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27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2D360E0-0283-4F25-9BB6-01A83161E2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AC66D7-0DA8-4712-84F4-2381CCD3668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67085"/>
                </a:solidFill>
              </a:defRPr>
            </a:pPr>
            <a:r>
              <a:rPr sz="1400" b="1" dirty="0">
                <a:solidFill>
                  <a:srgbClr val="667085"/>
                </a:solidFill>
              </a:rPr>
              <a:t>АНАЛІЗ ІСНУЮЧИХ РІШЕНЬ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57D888-EE7B-46A7-B911-AE1E6BAFAF1F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</a:defRPr>
            </a:pPr>
            <a:r>
              <a:rPr lang="en-US" sz="2700" b="1" dirty="0" err="1">
                <a:solidFill>
                  <a:srgbClr val="17202A"/>
                </a:solidFill>
              </a:rPr>
              <a:t>ToDoist</a:t>
            </a:r>
            <a:endParaRPr sz="2700" b="1" dirty="0">
              <a:solidFill>
                <a:srgbClr val="17202A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86C626-1141-4F7D-81FA-0F831467BD32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10820400" cy="19050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46C9BB-EEAE-4A20-8A22-D991F0390A7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559B74-08C2-4803-8B7F-E87BF5A93E66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1000" b="0" dirty="0" err="1">
                <a:solidFill>
                  <a:srgbClr val="667085"/>
                </a:solidFill>
              </a:rPr>
              <a:t>Інформаційна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система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відстеження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завдань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та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досягнень</a:t>
            </a:r>
            <a:endParaRPr sz="1000" b="0" dirty="0">
              <a:solidFill>
                <a:srgbClr val="667085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7B9693-67FF-45AB-AD6F-3BEC57E6516E}"/>
              </a:ext>
            </a:extLst>
          </p:cNvPr>
          <p:cNvSpPr>
            <a:spLocks noGrp="1"/>
          </p:cNvSpPr>
          <p:nvPr/>
        </p:nvSpPr>
        <p:spPr>
          <a:xfrm>
            <a:off x="11029950" y="6534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1400" b="1" dirty="0">
                <a:solidFill>
                  <a:srgbClr val="667085"/>
                </a:solidFill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59C8D75-6DA9-495D-9E3C-67D4687F4408}"/>
              </a:ext>
            </a:extLst>
          </p:cNvPr>
          <p:cNvSpPr>
            <a:spLocks noGrp="1"/>
          </p:cNvSpPr>
          <p:nvPr/>
        </p:nvSpPr>
        <p:spPr>
          <a:xfrm>
            <a:off x="1249310" y="2520227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D5D0F29-764E-4E69-A53D-AD57F74A289A}"/>
              </a:ext>
            </a:extLst>
          </p:cNvPr>
          <p:cNvSpPr>
            <a:spLocks noGrp="1"/>
          </p:cNvSpPr>
          <p:nvPr/>
        </p:nvSpPr>
        <p:spPr>
          <a:xfrm>
            <a:off x="1249310" y="2982366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80CE8C-70B7-79DA-44EB-C001E45A0F52}"/>
              </a:ext>
            </a:extLst>
          </p:cNvPr>
          <p:cNvSpPr txBox="1"/>
          <p:nvPr/>
        </p:nvSpPr>
        <p:spPr>
          <a:xfrm>
            <a:off x="1558413" y="1764402"/>
            <a:ext cx="1484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600" dirty="0"/>
              <a:t>Переваги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43E089-1CB0-8192-9AFB-196052F28511}"/>
              </a:ext>
            </a:extLst>
          </p:cNvPr>
          <p:cNvSpPr txBox="1"/>
          <p:nvPr/>
        </p:nvSpPr>
        <p:spPr>
          <a:xfrm>
            <a:off x="1575005" y="3782297"/>
            <a:ext cx="1484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600" dirty="0"/>
              <a:t>Недоліки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860E53-D017-E302-11AC-4CF43BA9DA4D}"/>
              </a:ext>
            </a:extLst>
          </p:cNvPr>
          <p:cNvSpPr txBox="1"/>
          <p:nvPr/>
        </p:nvSpPr>
        <p:spPr>
          <a:xfrm>
            <a:off x="1558413" y="2227840"/>
            <a:ext cx="48128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err="1"/>
              <a:t>Підтримка</a:t>
            </a:r>
            <a:r>
              <a:rPr lang="ru-RU" sz="1600" dirty="0"/>
              <a:t> </a:t>
            </a:r>
            <a:r>
              <a:rPr lang="ru-RU" sz="1600" dirty="0" err="1"/>
              <a:t>ієрархічної</a:t>
            </a:r>
            <a:r>
              <a:rPr lang="ru-RU" sz="1600" dirty="0"/>
              <a:t> </a:t>
            </a:r>
            <a:r>
              <a:rPr lang="ru-RU" sz="1600" dirty="0" err="1"/>
              <a:t>організації</a:t>
            </a:r>
            <a:r>
              <a:rPr lang="ru-RU" sz="1600" dirty="0"/>
              <a:t> задач, </a:t>
            </a:r>
            <a:r>
              <a:rPr lang="ru-RU" sz="1600" dirty="0" err="1"/>
              <a:t>встановлення</a:t>
            </a:r>
            <a:r>
              <a:rPr lang="ru-RU" sz="1600" dirty="0"/>
              <a:t> </a:t>
            </a:r>
            <a:r>
              <a:rPr lang="ru-RU" sz="1600" dirty="0" err="1"/>
              <a:t>пріоритетів</a:t>
            </a:r>
            <a:r>
              <a:rPr lang="ru-RU" sz="1600" dirty="0"/>
              <a:t> та </a:t>
            </a:r>
            <a:r>
              <a:rPr lang="ru-RU" sz="1600" dirty="0" err="1"/>
              <a:t>дедлайнів</a:t>
            </a:r>
            <a:endParaRPr lang="ru-RU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CA2D8B-74EA-70EF-2B4D-0894B91EA5CA}"/>
              </a:ext>
            </a:extLst>
          </p:cNvPr>
          <p:cNvSpPr txBox="1"/>
          <p:nvPr/>
        </p:nvSpPr>
        <p:spPr>
          <a:xfrm>
            <a:off x="1558413" y="286071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Підтримка</a:t>
            </a:r>
            <a:r>
              <a:rPr lang="ru-RU" sz="1600" dirty="0"/>
              <a:t> </a:t>
            </a:r>
            <a:r>
              <a:rPr lang="ru-RU" sz="1600" dirty="0" err="1"/>
              <a:t>базової</a:t>
            </a:r>
            <a:r>
              <a:rPr lang="ru-RU" sz="1600" dirty="0"/>
              <a:t> </a:t>
            </a:r>
            <a:r>
              <a:rPr lang="ru-RU" sz="1600" dirty="0" err="1"/>
              <a:t>аналітики</a:t>
            </a:r>
            <a:r>
              <a:rPr lang="ru-RU" sz="1600" dirty="0"/>
              <a:t> </a:t>
            </a:r>
            <a:r>
              <a:rPr lang="ru-RU" sz="1600" dirty="0" err="1"/>
              <a:t>продуктивності</a:t>
            </a:r>
            <a:r>
              <a:rPr lang="ru-RU" sz="1600" dirty="0"/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A0353E-511F-B854-4041-23CD8153087F}"/>
              </a:ext>
            </a:extLst>
          </p:cNvPr>
          <p:cNvSpPr txBox="1"/>
          <p:nvPr/>
        </p:nvSpPr>
        <p:spPr>
          <a:xfrm>
            <a:off x="1558413" y="322480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Широка </a:t>
            </a:r>
            <a:r>
              <a:rPr lang="ru-RU" sz="1600" dirty="0" err="1"/>
              <a:t>екосистема</a:t>
            </a:r>
            <a:r>
              <a:rPr lang="ru-RU" sz="1600" dirty="0"/>
              <a:t> </a:t>
            </a:r>
            <a:r>
              <a:rPr lang="ru-RU" sz="1600" dirty="0" err="1"/>
              <a:t>інтеграцій</a:t>
            </a:r>
            <a:endParaRPr lang="ru-RU" sz="16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01C75FE-A88A-FFFB-63B1-0718B5434683}"/>
              </a:ext>
            </a:extLst>
          </p:cNvPr>
          <p:cNvSpPr>
            <a:spLocks noGrp="1"/>
          </p:cNvSpPr>
          <p:nvPr/>
        </p:nvSpPr>
        <p:spPr>
          <a:xfrm>
            <a:off x="1249310" y="3346458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D410A6-E193-E4F5-C51B-D0F122CBBCC4}"/>
              </a:ext>
            </a:extLst>
          </p:cNvPr>
          <p:cNvSpPr txBox="1"/>
          <p:nvPr/>
        </p:nvSpPr>
        <p:spPr>
          <a:xfrm>
            <a:off x="1558413" y="425168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Аналітичні</a:t>
            </a:r>
            <a:r>
              <a:rPr lang="ru-RU" sz="16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можливості</a:t>
            </a:r>
            <a:r>
              <a:rPr lang="ru-RU" sz="16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платформи</a:t>
            </a:r>
            <a:r>
              <a:rPr lang="ru-RU" sz="16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є </a:t>
            </a:r>
            <a:r>
              <a:rPr lang="ru-RU" sz="16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обмеженими</a:t>
            </a:r>
            <a:endParaRPr lang="ru-RU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7FBAEC-DCCA-1BE6-FDF8-719901C2A4DF}"/>
              </a:ext>
            </a:extLst>
          </p:cNvPr>
          <p:cNvSpPr txBox="1"/>
          <p:nvPr/>
        </p:nvSpPr>
        <p:spPr>
          <a:xfrm>
            <a:off x="1558413" y="466586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Відсутність</a:t>
            </a:r>
            <a:r>
              <a:rPr lang="ru-RU" sz="16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глибокої</a:t>
            </a:r>
            <a:r>
              <a:rPr lang="ru-RU" sz="16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візуалізації</a:t>
            </a:r>
            <a:r>
              <a:rPr lang="ru-RU" sz="16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прогресу</a:t>
            </a:r>
            <a:endParaRPr lang="ru-RU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D0C492-FB19-65F3-F4FF-F81981B20755}"/>
              </a:ext>
            </a:extLst>
          </p:cNvPr>
          <p:cNvSpPr txBox="1"/>
          <p:nvPr/>
        </p:nvSpPr>
        <p:spPr>
          <a:xfrm>
            <a:off x="1558413" y="5080038"/>
            <a:ext cx="49997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Відсутність</a:t>
            </a:r>
            <a:r>
              <a:rPr lang="ru-RU" sz="16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підтримки</a:t>
            </a:r>
            <a:r>
              <a:rPr lang="ru-RU" sz="16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концепції</a:t>
            </a:r>
            <a:r>
              <a:rPr lang="ru-RU" sz="16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фіксації</a:t>
            </a:r>
            <a:r>
              <a:rPr lang="ru-RU" sz="16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досягнень</a:t>
            </a:r>
            <a:r>
              <a:rPr lang="ru-RU" sz="16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як </a:t>
            </a:r>
            <a:r>
              <a:rPr lang="ru-RU" sz="16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окремих</a:t>
            </a:r>
            <a:r>
              <a:rPr lang="ru-RU" sz="16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00" kern="12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сутностей</a:t>
            </a:r>
            <a:r>
              <a:rPr lang="ru-RU" sz="16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ru-RU" sz="160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8478E37-BF46-F33D-2E78-2016998B36DA}"/>
              </a:ext>
            </a:extLst>
          </p:cNvPr>
          <p:cNvSpPr>
            <a:spLocks noGrp="1"/>
          </p:cNvSpPr>
          <p:nvPr/>
        </p:nvSpPr>
        <p:spPr>
          <a:xfrm>
            <a:off x="1249310" y="4370965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72F6598-30F3-8636-FB7A-ADD87B0F9B41}"/>
              </a:ext>
            </a:extLst>
          </p:cNvPr>
          <p:cNvSpPr>
            <a:spLocks noGrp="1"/>
          </p:cNvSpPr>
          <p:nvPr/>
        </p:nvSpPr>
        <p:spPr>
          <a:xfrm>
            <a:off x="1249310" y="4782989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2DA8275-DDD3-40A8-2E1E-A1A277AA5EDA}"/>
              </a:ext>
            </a:extLst>
          </p:cNvPr>
          <p:cNvSpPr>
            <a:spLocks noGrp="1"/>
          </p:cNvSpPr>
          <p:nvPr/>
        </p:nvSpPr>
        <p:spPr>
          <a:xfrm>
            <a:off x="1249310" y="5318848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CE9839F-6087-1DC7-D139-6F0F820DF4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488"/>
          <a:stretch>
            <a:fillRect/>
          </a:stretch>
        </p:blipFill>
        <p:spPr>
          <a:xfrm>
            <a:off x="6255871" y="2063251"/>
            <a:ext cx="5604193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69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D088B2-B30B-AF3B-B98C-6F52784A7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1DC8E38-3365-B003-85FB-48393FBFDD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E58AB5-9B5D-DDC6-51B8-1EB5C9D2B04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67085"/>
                </a:solidFill>
              </a:defRPr>
            </a:pPr>
            <a:r>
              <a:rPr sz="1400" b="1" dirty="0">
                <a:solidFill>
                  <a:srgbClr val="667085"/>
                </a:solidFill>
              </a:rPr>
              <a:t>АНАЛІЗ ІСНУЮЧИХ РІШЕНЬ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9B77A3-1114-2E4D-56A4-835F8F39DE6E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</a:defRPr>
            </a:pPr>
            <a:r>
              <a:rPr lang="en-US" sz="2700" b="1" dirty="0">
                <a:solidFill>
                  <a:srgbClr val="17202A"/>
                </a:solidFill>
              </a:rPr>
              <a:t>Notion</a:t>
            </a:r>
            <a:endParaRPr sz="2700" b="1" dirty="0">
              <a:solidFill>
                <a:srgbClr val="17202A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5E295C-22E4-82C0-5789-261BA739A218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10820400" cy="19050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D99DBC-A4EA-2969-FE71-98A7DC915EFF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D97AD2-DC36-3A0E-89A3-1C099DB1E688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1000" b="0" dirty="0" err="1">
                <a:solidFill>
                  <a:srgbClr val="667085"/>
                </a:solidFill>
              </a:rPr>
              <a:t>Інформаційна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система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відстеження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завдань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та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досягнень</a:t>
            </a:r>
            <a:endParaRPr sz="1000" b="0" dirty="0">
              <a:solidFill>
                <a:srgbClr val="667085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3E9D13-8C60-0D5C-7155-EA86EA2CC5C7}"/>
              </a:ext>
            </a:extLst>
          </p:cNvPr>
          <p:cNvSpPr>
            <a:spLocks noGrp="1"/>
          </p:cNvSpPr>
          <p:nvPr/>
        </p:nvSpPr>
        <p:spPr>
          <a:xfrm>
            <a:off x="11029950" y="6534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lang="uk-UA" sz="1400" b="1" dirty="0">
                <a:solidFill>
                  <a:srgbClr val="667085"/>
                </a:solidFill>
              </a:rPr>
              <a:t>5</a:t>
            </a:r>
            <a:endParaRPr sz="1400" b="1" dirty="0">
              <a:solidFill>
                <a:srgbClr val="667085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1B1AD39-A596-9AB2-07BF-83A0EA86CC80}"/>
              </a:ext>
            </a:extLst>
          </p:cNvPr>
          <p:cNvSpPr>
            <a:spLocks noGrp="1"/>
          </p:cNvSpPr>
          <p:nvPr/>
        </p:nvSpPr>
        <p:spPr>
          <a:xfrm>
            <a:off x="1249310" y="2333260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5AF0EB-8FBA-D7B4-B6B8-3D35CC36F511}"/>
              </a:ext>
            </a:extLst>
          </p:cNvPr>
          <p:cNvSpPr>
            <a:spLocks noGrp="1"/>
          </p:cNvSpPr>
          <p:nvPr/>
        </p:nvSpPr>
        <p:spPr>
          <a:xfrm>
            <a:off x="1249310" y="2834205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76857C-805F-8E71-85AC-76B59D5E0412}"/>
              </a:ext>
            </a:extLst>
          </p:cNvPr>
          <p:cNvSpPr txBox="1"/>
          <p:nvPr/>
        </p:nvSpPr>
        <p:spPr>
          <a:xfrm>
            <a:off x="1558413" y="1764402"/>
            <a:ext cx="1484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600" dirty="0"/>
              <a:t>Переваги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3BD79F-C04A-3780-A510-1F4FD649FE49}"/>
              </a:ext>
            </a:extLst>
          </p:cNvPr>
          <p:cNvSpPr txBox="1"/>
          <p:nvPr/>
        </p:nvSpPr>
        <p:spPr>
          <a:xfrm>
            <a:off x="1575005" y="3851121"/>
            <a:ext cx="1484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600" dirty="0"/>
              <a:t>Недоліки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92C639-E838-BC16-38C4-B8B24314E964}"/>
              </a:ext>
            </a:extLst>
          </p:cNvPr>
          <p:cNvSpPr txBox="1"/>
          <p:nvPr/>
        </p:nvSpPr>
        <p:spPr>
          <a:xfrm>
            <a:off x="1558413" y="2208170"/>
            <a:ext cx="48128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err="1"/>
              <a:t>Широкі</a:t>
            </a:r>
            <a:r>
              <a:rPr lang="ru-RU" sz="1600" dirty="0"/>
              <a:t> </a:t>
            </a:r>
            <a:r>
              <a:rPr lang="ru-RU" sz="1600" dirty="0" err="1"/>
              <a:t>можливості</a:t>
            </a:r>
            <a:r>
              <a:rPr lang="ru-RU" sz="1600" dirty="0"/>
              <a:t> </a:t>
            </a:r>
            <a:r>
              <a:rPr lang="ru-RU" sz="1600" dirty="0" err="1"/>
              <a:t>кастомізації</a:t>
            </a:r>
            <a:r>
              <a:rPr lang="ru-RU" sz="1600" dirty="0"/>
              <a:t> </a:t>
            </a:r>
            <a:r>
              <a:rPr lang="ru-RU" sz="1600" dirty="0" err="1"/>
              <a:t>робочого</a:t>
            </a:r>
            <a:r>
              <a:rPr lang="ru-RU" sz="1600" dirty="0"/>
              <a:t> простору</a:t>
            </a:r>
            <a:endParaRPr lang="ru-RU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CA5B48-BA43-027C-1CD0-205DC6B63008}"/>
              </a:ext>
            </a:extLst>
          </p:cNvPr>
          <p:cNvSpPr txBox="1"/>
          <p:nvPr/>
        </p:nvSpPr>
        <p:spPr>
          <a:xfrm>
            <a:off x="1575005" y="2593236"/>
            <a:ext cx="49997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Підтримка</a:t>
            </a:r>
            <a:r>
              <a:rPr lang="ru-RU" sz="1600" dirty="0"/>
              <a:t> </a:t>
            </a:r>
            <a:r>
              <a:rPr lang="ru-RU" sz="1600" dirty="0" err="1"/>
              <a:t>різноманітних</a:t>
            </a:r>
            <a:r>
              <a:rPr lang="ru-RU" sz="1600" dirty="0"/>
              <a:t> </a:t>
            </a:r>
            <a:r>
              <a:rPr lang="ru-RU" sz="1600" dirty="0" err="1"/>
              <a:t>представленнь</a:t>
            </a:r>
            <a:r>
              <a:rPr lang="ru-RU" sz="1600" dirty="0"/>
              <a:t> </a:t>
            </a:r>
            <a:r>
              <a:rPr lang="ru-RU" sz="1600" dirty="0" err="1"/>
              <a:t>даних</a:t>
            </a:r>
            <a:r>
              <a:rPr lang="ru-RU" sz="1600" dirty="0"/>
              <a:t> – </a:t>
            </a:r>
            <a:r>
              <a:rPr lang="ru-RU" sz="1600" dirty="0" err="1"/>
              <a:t>таблиці</a:t>
            </a:r>
            <a:r>
              <a:rPr lang="ru-RU" sz="1600" dirty="0"/>
              <a:t>, канбан-</a:t>
            </a:r>
            <a:r>
              <a:rPr lang="ru-RU" sz="1600" dirty="0" err="1"/>
              <a:t>дошки</a:t>
            </a:r>
            <a:r>
              <a:rPr lang="ru-RU" sz="1600" dirty="0"/>
              <a:t>, </a:t>
            </a:r>
            <a:r>
              <a:rPr lang="ru-RU" sz="1600" dirty="0" err="1"/>
              <a:t>календарі</a:t>
            </a:r>
            <a:endParaRPr lang="ru-RU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3CF9E2-801F-6F25-0D2F-AB0674F374DC}"/>
              </a:ext>
            </a:extLst>
          </p:cNvPr>
          <p:cNvSpPr txBox="1"/>
          <p:nvPr/>
        </p:nvSpPr>
        <p:spPr>
          <a:xfrm>
            <a:off x="1558413" y="3224523"/>
            <a:ext cx="49062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Можливість</a:t>
            </a:r>
            <a:r>
              <a:rPr lang="ru-RU" sz="1600" dirty="0"/>
              <a:t> </a:t>
            </a:r>
            <a:r>
              <a:rPr lang="ru-RU" sz="1600" dirty="0" err="1"/>
              <a:t>будувати</a:t>
            </a:r>
            <a:r>
              <a:rPr lang="ru-RU" sz="1600" dirty="0"/>
              <a:t> </a:t>
            </a:r>
            <a:r>
              <a:rPr lang="ru-RU" sz="1600" dirty="0" err="1"/>
              <a:t>складні</a:t>
            </a:r>
            <a:r>
              <a:rPr lang="ru-RU" sz="1600" dirty="0"/>
              <a:t> </a:t>
            </a:r>
            <a:r>
              <a:rPr lang="ru-RU" sz="1600" dirty="0" err="1"/>
              <a:t>реляційні</a:t>
            </a:r>
            <a:r>
              <a:rPr lang="ru-RU" sz="1600" dirty="0"/>
              <a:t> </a:t>
            </a:r>
            <a:r>
              <a:rPr lang="ru-RU" sz="1600" dirty="0" err="1"/>
              <a:t>структури</a:t>
            </a:r>
            <a:r>
              <a:rPr lang="ru-RU" sz="1600" dirty="0"/>
              <a:t> </a:t>
            </a:r>
            <a:r>
              <a:rPr lang="ru-RU" sz="1600" dirty="0" err="1"/>
              <a:t>між</a:t>
            </a:r>
            <a:r>
              <a:rPr lang="ru-RU" sz="1600" dirty="0"/>
              <a:t> </a:t>
            </a:r>
            <a:r>
              <a:rPr lang="ru-RU" sz="1600" dirty="0" err="1"/>
              <a:t>різними</a:t>
            </a:r>
            <a:r>
              <a:rPr lang="ru-RU" sz="1600" dirty="0"/>
              <a:t> типами контенту. 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0F62E73-523D-2AF1-6A22-054E4DC49531}"/>
              </a:ext>
            </a:extLst>
          </p:cNvPr>
          <p:cNvSpPr>
            <a:spLocks noGrp="1"/>
          </p:cNvSpPr>
          <p:nvPr/>
        </p:nvSpPr>
        <p:spPr>
          <a:xfrm>
            <a:off x="1249310" y="3472362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4E3C0A-7E70-1CDA-B70C-B00E43B067E8}"/>
              </a:ext>
            </a:extLst>
          </p:cNvPr>
          <p:cNvSpPr txBox="1"/>
          <p:nvPr/>
        </p:nvSpPr>
        <p:spPr>
          <a:xfrm>
            <a:off x="1558413" y="425168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Надлишкова</a:t>
            </a:r>
            <a:r>
              <a:rPr lang="ru-RU" sz="1600" dirty="0"/>
              <a:t> </a:t>
            </a:r>
            <a:r>
              <a:rPr lang="ru-RU" sz="1600" dirty="0" err="1"/>
              <a:t>складність</a:t>
            </a:r>
            <a:r>
              <a:rPr lang="ru-RU" sz="1600" dirty="0"/>
              <a:t> для персонального тайм-менеджменту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3491CF-0710-92EC-B55E-845E68CACFDE}"/>
              </a:ext>
            </a:extLst>
          </p:cNvPr>
          <p:cNvSpPr txBox="1"/>
          <p:nvPr/>
        </p:nvSpPr>
        <p:spPr>
          <a:xfrm>
            <a:off x="1558413" y="463205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Налаштування</a:t>
            </a:r>
            <a:r>
              <a:rPr lang="ru-RU" sz="1600" dirty="0"/>
              <a:t> </a:t>
            </a:r>
            <a:r>
              <a:rPr lang="ru-RU" sz="1600" dirty="0" err="1"/>
              <a:t>системи</a:t>
            </a:r>
            <a:r>
              <a:rPr lang="ru-RU" sz="1600" dirty="0"/>
              <a:t> </a:t>
            </a:r>
            <a:r>
              <a:rPr lang="ru-RU" sz="1600" dirty="0" err="1"/>
              <a:t>під</a:t>
            </a:r>
            <a:r>
              <a:rPr lang="ru-RU" sz="1600" dirty="0"/>
              <a:t> </a:t>
            </a:r>
            <a:r>
              <a:rPr lang="ru-RU" sz="1600" dirty="0" err="1"/>
              <a:t>індивідуальні</a:t>
            </a:r>
            <a:r>
              <a:rPr lang="ru-RU" sz="1600" dirty="0"/>
              <a:t> потреби </a:t>
            </a:r>
            <a:r>
              <a:rPr lang="ru-RU" sz="1600" dirty="0" err="1"/>
              <a:t>вимагає</a:t>
            </a:r>
            <a:r>
              <a:rPr lang="ru-RU" sz="1600" dirty="0"/>
              <a:t> </a:t>
            </a:r>
            <a:r>
              <a:rPr lang="ru-RU" sz="1600" dirty="0" err="1"/>
              <a:t>значних</a:t>
            </a:r>
            <a:r>
              <a:rPr lang="ru-RU" sz="1600" dirty="0"/>
              <a:t> </a:t>
            </a:r>
            <a:r>
              <a:rPr lang="ru-RU" sz="1600" dirty="0" err="1"/>
              <a:t>часових</a:t>
            </a:r>
            <a:r>
              <a:rPr lang="ru-RU" sz="1600" dirty="0"/>
              <a:t> </a:t>
            </a:r>
            <a:r>
              <a:rPr lang="ru-RU" sz="1600" dirty="0" err="1"/>
              <a:t>витрат</a:t>
            </a:r>
            <a:endParaRPr lang="ru-RU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0E3AC0-183E-23FA-34B2-D62F753270E2}"/>
              </a:ext>
            </a:extLst>
          </p:cNvPr>
          <p:cNvSpPr txBox="1"/>
          <p:nvPr/>
        </p:nvSpPr>
        <p:spPr>
          <a:xfrm>
            <a:off x="1558413" y="5258657"/>
            <a:ext cx="49997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Вбудована</a:t>
            </a:r>
            <a:r>
              <a:rPr lang="ru-RU" sz="1600" dirty="0"/>
              <a:t> </a:t>
            </a:r>
            <a:r>
              <a:rPr lang="ru-RU" sz="1600" dirty="0" err="1"/>
              <a:t>аналітика</a:t>
            </a:r>
            <a:r>
              <a:rPr lang="ru-RU" sz="1600" dirty="0"/>
              <a:t> </a:t>
            </a:r>
            <a:r>
              <a:rPr lang="ru-RU" sz="1600" dirty="0" err="1"/>
              <a:t>продуктивності</a:t>
            </a:r>
            <a:r>
              <a:rPr lang="ru-RU" sz="1600" dirty="0"/>
              <a:t> </a:t>
            </a:r>
            <a:r>
              <a:rPr lang="ru-RU" sz="1600" dirty="0" err="1"/>
              <a:t>фактично</a:t>
            </a:r>
            <a:r>
              <a:rPr lang="ru-RU" sz="1600" dirty="0"/>
              <a:t> </a:t>
            </a:r>
            <a:r>
              <a:rPr lang="ru-RU" sz="1600" dirty="0" err="1"/>
              <a:t>відсутня</a:t>
            </a:r>
            <a:endParaRPr lang="ru-RU" sz="160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9D34C02-3289-4220-3CC6-5137DF18B9E8}"/>
              </a:ext>
            </a:extLst>
          </p:cNvPr>
          <p:cNvSpPr>
            <a:spLocks noGrp="1"/>
          </p:cNvSpPr>
          <p:nvPr/>
        </p:nvSpPr>
        <p:spPr>
          <a:xfrm>
            <a:off x="1249310" y="4373334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F097E8E-788C-415C-EAA3-76FAFACA6A7A}"/>
              </a:ext>
            </a:extLst>
          </p:cNvPr>
          <p:cNvSpPr>
            <a:spLocks noGrp="1"/>
          </p:cNvSpPr>
          <p:nvPr/>
        </p:nvSpPr>
        <p:spPr>
          <a:xfrm>
            <a:off x="1249310" y="4871196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E1FBD71-2A64-71D9-F625-C5E4E3243AE3}"/>
              </a:ext>
            </a:extLst>
          </p:cNvPr>
          <p:cNvSpPr>
            <a:spLocks noGrp="1"/>
          </p:cNvSpPr>
          <p:nvPr/>
        </p:nvSpPr>
        <p:spPr>
          <a:xfrm>
            <a:off x="1249310" y="5378076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B30CB1-5504-95B6-F65B-B063774CCE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813"/>
          <a:stretch>
            <a:fillRect/>
          </a:stretch>
        </p:blipFill>
        <p:spPr>
          <a:xfrm>
            <a:off x="6695154" y="1651147"/>
            <a:ext cx="5191607" cy="260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248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111FAFD-60E6-4E40-AB27-64F57EC8A0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5D7478-1677-455C-8395-85C3807805C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67085"/>
                </a:solidFill>
              </a:defRPr>
            </a:pPr>
            <a:r>
              <a:rPr sz="1400" b="1" dirty="0">
                <a:solidFill>
                  <a:srgbClr val="667085"/>
                </a:solidFill>
              </a:rPr>
              <a:t>ПРЕДМЕТНА ОБЛАСТЬ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6E5F34-6E88-4B73-9B39-95BD1C4998A6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Проблема не лише в плануванні, а й у підтримці прогресу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0EE219-C371-4A04-B873-6979A2A3EC91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10820400" cy="19050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566321-4BBD-4571-BF65-A27F2F7D269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80ED03-6D5E-4B5C-B516-7F17C640A415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1000" b="0" dirty="0" err="1">
                <a:solidFill>
                  <a:srgbClr val="667085"/>
                </a:solidFill>
              </a:rPr>
              <a:t>Інформаційна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система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відстеження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завдань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та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досягнень</a:t>
            </a:r>
            <a:endParaRPr sz="1000" b="0" dirty="0">
              <a:solidFill>
                <a:srgbClr val="667085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AB96D8-FF38-4A1D-813C-049C36559AA9}"/>
              </a:ext>
            </a:extLst>
          </p:cNvPr>
          <p:cNvSpPr>
            <a:spLocks noGrp="1"/>
          </p:cNvSpPr>
          <p:nvPr/>
        </p:nvSpPr>
        <p:spPr>
          <a:xfrm>
            <a:off x="11029950" y="6534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lang="uk-UA" sz="1400" b="1" dirty="0">
                <a:solidFill>
                  <a:srgbClr val="667085"/>
                </a:solidFill>
              </a:rPr>
              <a:t>6</a:t>
            </a:r>
            <a:endParaRPr sz="1400" b="1" dirty="0">
              <a:solidFill>
                <a:srgbClr val="667085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43FB57-3135-4EC6-95AA-0F8D4154E4CA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5219700" cy="1676400"/>
          </a:xfrm>
          <a:prstGeom prst="roundRect">
            <a:avLst>
              <a:gd name="adj" fmla="val 4545"/>
            </a:avLst>
          </a:prstGeom>
          <a:solidFill>
            <a:srgbClr val="F5F7FA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C721AB-491B-47DB-8353-4DA67A9A9019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C400"/>
                </a:solidFill>
              </a:defRPr>
            </a:pPr>
            <a:r>
              <a:rPr sz="1425" b="1">
                <a:solidFill>
                  <a:srgbClr val="FFC400"/>
                </a:solidFill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90BCBD-B3B6-4937-B489-511B4A9D88FC}"/>
              </a:ext>
            </a:extLst>
          </p:cNvPr>
          <p:cNvSpPr>
            <a:spLocks noGrp="1"/>
          </p:cNvSpPr>
          <p:nvPr/>
        </p:nvSpPr>
        <p:spPr>
          <a:xfrm>
            <a:off x="1543050" y="20955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Фрагментація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6D3BC9-06CE-4D54-9B11-266ACCC8B3F6}"/>
              </a:ext>
            </a:extLst>
          </p:cNvPr>
          <p:cNvSpPr>
            <a:spLocks noGrp="1"/>
          </p:cNvSpPr>
          <p:nvPr/>
        </p:nvSpPr>
        <p:spPr>
          <a:xfrm>
            <a:off x="1543050" y="2571750"/>
            <a:ext cx="3905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Задачі, повідомлення й звіти зберігаються у різних інструментах.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E2AD7E2-1C59-46DB-A91B-B6074A9EC1CD}"/>
              </a:ext>
            </a:extLst>
          </p:cNvPr>
          <p:cNvSpPr>
            <a:spLocks noGrp="1"/>
          </p:cNvSpPr>
          <p:nvPr/>
        </p:nvSpPr>
        <p:spPr>
          <a:xfrm>
            <a:off x="6153150" y="1885950"/>
            <a:ext cx="5219700" cy="1676400"/>
          </a:xfrm>
          <a:prstGeom prst="roundRect">
            <a:avLst>
              <a:gd name="adj" fmla="val 4545"/>
            </a:avLst>
          </a:prstGeom>
          <a:solidFill>
            <a:srgbClr val="F5F7FA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2C329B-759C-43F7-B2FA-90D67F0DE763}"/>
              </a:ext>
            </a:extLst>
          </p:cNvPr>
          <p:cNvSpPr>
            <a:spLocks noGrp="1"/>
          </p:cNvSpPr>
          <p:nvPr/>
        </p:nvSpPr>
        <p:spPr>
          <a:xfrm>
            <a:off x="6381750" y="21145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C400"/>
                </a:solidFill>
              </a:defRPr>
            </a:pPr>
            <a:r>
              <a:rPr sz="1425" b="1">
                <a:solidFill>
                  <a:srgbClr val="FFC400"/>
                </a:solidFill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3BAC16-68B5-49A7-8C9D-EF5A7A4E38BF}"/>
              </a:ext>
            </a:extLst>
          </p:cNvPr>
          <p:cNvSpPr>
            <a:spLocks noGrp="1"/>
          </p:cNvSpPr>
          <p:nvPr/>
        </p:nvSpPr>
        <p:spPr>
          <a:xfrm>
            <a:off x="7010400" y="20955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Низька мотивація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0A5513-EF31-4FB7-AE93-4742AC883A96}"/>
              </a:ext>
            </a:extLst>
          </p:cNvPr>
          <p:cNvSpPr>
            <a:spLocks noGrp="1"/>
          </p:cNvSpPr>
          <p:nvPr/>
        </p:nvSpPr>
        <p:spPr>
          <a:xfrm>
            <a:off x="7010400" y="2571750"/>
            <a:ext cx="3905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Завершені дії не формують видимого довгострокового прогресу.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7A8AB5E-F154-4F4D-9129-C1F7F0DB76ED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5219700" cy="1676400"/>
          </a:xfrm>
          <a:prstGeom prst="roundRect">
            <a:avLst>
              <a:gd name="adj" fmla="val 4545"/>
            </a:avLst>
          </a:prstGeom>
          <a:solidFill>
            <a:srgbClr val="F5F7FA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1BB22C-714B-4342-B5D6-7C0C3A78974A}"/>
              </a:ext>
            </a:extLst>
          </p:cNvPr>
          <p:cNvSpPr>
            <a:spLocks noGrp="1"/>
          </p:cNvSpPr>
          <p:nvPr/>
        </p:nvSpPr>
        <p:spPr>
          <a:xfrm>
            <a:off x="914400" y="40767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C400"/>
                </a:solidFill>
              </a:defRPr>
            </a:pPr>
            <a:r>
              <a:rPr sz="1425" b="1">
                <a:solidFill>
                  <a:srgbClr val="FFC400"/>
                </a:solidFill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22E3EA-CD9C-44B8-A7AE-C39137D1088F}"/>
              </a:ext>
            </a:extLst>
          </p:cNvPr>
          <p:cNvSpPr>
            <a:spLocks noGrp="1"/>
          </p:cNvSpPr>
          <p:nvPr/>
        </p:nvSpPr>
        <p:spPr>
          <a:xfrm>
            <a:off x="1543050" y="40576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Складна координація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1AFC53-458C-4F32-A801-8D230C85DBB7}"/>
              </a:ext>
            </a:extLst>
          </p:cNvPr>
          <p:cNvSpPr>
            <a:spLocks noGrp="1"/>
          </p:cNvSpPr>
          <p:nvPr/>
        </p:nvSpPr>
        <p:spPr>
          <a:xfrm>
            <a:off x="1543050" y="4533900"/>
            <a:ext cx="3905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Командам важко узгоджувати етапи, власників і спільні дедлайни.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6044B10-70A2-4A84-968C-8FDF2C98DA11}"/>
              </a:ext>
            </a:extLst>
          </p:cNvPr>
          <p:cNvSpPr>
            <a:spLocks noGrp="1"/>
          </p:cNvSpPr>
          <p:nvPr/>
        </p:nvSpPr>
        <p:spPr>
          <a:xfrm>
            <a:off x="6153150" y="3848100"/>
            <a:ext cx="5219700" cy="1676400"/>
          </a:xfrm>
          <a:prstGeom prst="roundRect">
            <a:avLst>
              <a:gd name="adj" fmla="val 4545"/>
            </a:avLst>
          </a:prstGeom>
          <a:solidFill>
            <a:srgbClr val="F5F7FA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81FCFD-E27E-44EC-923F-789F66EBB3D7}"/>
              </a:ext>
            </a:extLst>
          </p:cNvPr>
          <p:cNvSpPr>
            <a:spLocks noGrp="1"/>
          </p:cNvSpPr>
          <p:nvPr/>
        </p:nvSpPr>
        <p:spPr>
          <a:xfrm>
            <a:off x="6381750" y="40767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C400"/>
                </a:solidFill>
              </a:defRPr>
            </a:pPr>
            <a:r>
              <a:rPr sz="1425" b="1">
                <a:solidFill>
                  <a:srgbClr val="FFC400"/>
                </a:solidFill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C52852-AF6C-4878-BC9C-0999F71CEA9B}"/>
              </a:ext>
            </a:extLst>
          </p:cNvPr>
          <p:cNvSpPr>
            <a:spLocks noGrp="1"/>
          </p:cNvSpPr>
          <p:nvPr/>
        </p:nvSpPr>
        <p:spPr>
          <a:xfrm>
            <a:off x="7010400" y="40576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Ризики приватності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CD9E2D-5B35-426B-956D-EF0D7081592B}"/>
              </a:ext>
            </a:extLst>
          </p:cNvPr>
          <p:cNvSpPr>
            <a:spLocks noGrp="1"/>
          </p:cNvSpPr>
          <p:nvPr/>
        </p:nvSpPr>
        <p:spPr>
          <a:xfrm>
            <a:off x="7010400" y="4533900"/>
            <a:ext cx="3905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Без ролей і перевірок доступу особисті та групові дані змішуються.</a:t>
            </a:r>
          </a:p>
        </p:txBody>
      </p:sp>
    </p:spTree>
    <p:extLst>
      <p:ext uri="{BB962C8B-B14F-4D97-AF65-F5344CB8AC3E}">
        <p14:creationId xmlns:p14="http://schemas.microsoft.com/office/powerpoint/2010/main" val="477175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A3B62DC-A345-4BBD-825F-E7073C6A54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72DC09-FF48-47A5-8058-3F8503E5A54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67085"/>
                </a:solidFill>
              </a:defRPr>
            </a:pPr>
            <a:r>
              <a:rPr sz="1400" b="1" dirty="0">
                <a:solidFill>
                  <a:srgbClr val="667085"/>
                </a:solidFill>
              </a:rPr>
              <a:t>ТЕХНОЛОГІЇ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C0CFAC-DE97-4555-B6F9-AE5B851FDFC6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Обраний стек підтримує типізацію, асинхронність і відтворюваність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5AD493-6403-4E99-8CF8-8E9FC2FFD2D7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10820400" cy="19050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9DF75E-22D6-4D96-8A4D-AEB772DB41CE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53156B-3A02-4E91-98D8-6B060D274F47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1000" b="0" dirty="0" err="1">
                <a:solidFill>
                  <a:srgbClr val="667085"/>
                </a:solidFill>
              </a:rPr>
              <a:t>Інформаційна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система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відстеження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завдань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та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досягнень</a:t>
            </a:r>
            <a:endParaRPr sz="1000" b="0" dirty="0">
              <a:solidFill>
                <a:srgbClr val="667085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2AE504-98CA-4405-9F43-F2CA8E5F532C}"/>
              </a:ext>
            </a:extLst>
          </p:cNvPr>
          <p:cNvSpPr>
            <a:spLocks noGrp="1"/>
          </p:cNvSpPr>
          <p:nvPr/>
        </p:nvSpPr>
        <p:spPr>
          <a:xfrm>
            <a:off x="11029950" y="6534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lang="uk-UA" sz="1400" b="1" dirty="0">
                <a:solidFill>
                  <a:srgbClr val="667085"/>
                </a:solidFill>
              </a:rPr>
              <a:t>7</a:t>
            </a:r>
            <a:endParaRPr sz="1400" b="1" dirty="0">
              <a:solidFill>
                <a:srgbClr val="667085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BE36A0-BE20-4673-B566-2FEE217BEA26}"/>
              </a:ext>
            </a:extLst>
          </p:cNvPr>
          <p:cNvSpPr>
            <a:spLocks noGrp="1"/>
          </p:cNvSpPr>
          <p:nvPr/>
        </p:nvSpPr>
        <p:spPr>
          <a:xfrm>
            <a:off x="819150" y="1828800"/>
            <a:ext cx="10553700" cy="373380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rcRect t="19404" b="17133"/>
          <a:stretch>
            <a:fillRect/>
          </a:stretch>
        </p:blipFill>
        <p:spPr>
          <a:xfrm>
            <a:off x="1516591" y="1927123"/>
            <a:ext cx="9006417" cy="32151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53B6842-A4CB-4FA2-832E-7A3FB08552D8}"/>
              </a:ext>
            </a:extLst>
          </p:cNvPr>
          <p:cNvSpPr>
            <a:spLocks noGrp="1"/>
          </p:cNvSpPr>
          <p:nvPr/>
        </p:nvSpPr>
        <p:spPr>
          <a:xfrm>
            <a:off x="819150" y="5734050"/>
            <a:ext cx="10553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React 19 + TypeScript забезпечують типізований інтерфейс; FastAPI та SQLAlchemy Async — неблокуюче API; PostgreSQL — транзакційність; Docker Compose — однакове середовище запуску.</a:t>
            </a:r>
          </a:p>
        </p:txBody>
      </p:sp>
    </p:spTree>
    <p:extLst>
      <p:ext uri="{BB962C8B-B14F-4D97-AF65-F5344CB8AC3E}">
        <p14:creationId xmlns:p14="http://schemas.microsoft.com/office/powerpoint/2010/main" val="1617080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CB613C-A7A9-4427-9464-AFE6AC32D9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4F465E-1BD4-4B09-8A34-8D1B0427448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67085"/>
                </a:solidFill>
              </a:defRPr>
            </a:pPr>
            <a:r>
              <a:rPr sz="1400" b="1" dirty="0">
                <a:solidFill>
                  <a:srgbClr val="667085"/>
                </a:solidFill>
              </a:rPr>
              <a:t>ДИЗАЙН СИСТЕМИ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F2D896-7C76-4238-AD69-2DC6CF897C14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Шарова архітектура ізолює інтерфейс, логіку та дані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FA5DFC-AED3-4215-A7FD-FA4F15502863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10820400" cy="19050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80D902-7267-4ECB-8610-BAB7D9CD47B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C369A7-00B0-461D-968E-AAC855A8885A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1000" b="0" dirty="0" err="1">
                <a:solidFill>
                  <a:srgbClr val="667085"/>
                </a:solidFill>
              </a:rPr>
              <a:t>Інформаційна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система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відстеження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завдань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та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досягнень</a:t>
            </a:r>
            <a:endParaRPr sz="1000" b="0" dirty="0">
              <a:solidFill>
                <a:srgbClr val="667085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62C721-72C5-4053-B81B-F1C3683CB602}"/>
              </a:ext>
            </a:extLst>
          </p:cNvPr>
          <p:cNvSpPr>
            <a:spLocks noGrp="1"/>
          </p:cNvSpPr>
          <p:nvPr/>
        </p:nvSpPr>
        <p:spPr>
          <a:xfrm>
            <a:off x="11029950" y="6534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lang="uk-UA" sz="1400" b="1" dirty="0">
                <a:solidFill>
                  <a:srgbClr val="667085"/>
                </a:solidFill>
              </a:rPr>
              <a:t>8</a:t>
            </a:r>
            <a:endParaRPr sz="1400" b="1" dirty="0">
              <a:solidFill>
                <a:srgbClr val="667085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3C4A68-FD3E-4BEA-92AA-EC2EB8304357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10477500" cy="392430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0600" y="2384191"/>
            <a:ext cx="10210800" cy="27754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20140E2-1FB3-40F3-B34F-8450A48CDEAA}"/>
              </a:ext>
            </a:extLst>
          </p:cNvPr>
          <p:cNvSpPr>
            <a:spLocks noGrp="1"/>
          </p:cNvSpPr>
          <p:nvPr/>
        </p:nvSpPr>
        <p:spPr>
          <a:xfrm>
            <a:off x="857250" y="586740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Поділ відповідальності спрощує тестування, заміну компонентів і подальше масштабування.</a:t>
            </a:r>
          </a:p>
        </p:txBody>
      </p:sp>
    </p:spTree>
    <p:extLst>
      <p:ext uri="{BB962C8B-B14F-4D97-AF65-F5344CB8AC3E}">
        <p14:creationId xmlns:p14="http://schemas.microsoft.com/office/powerpoint/2010/main" val="1307105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CE4173A-CB8B-4AAB-A535-ED6EDAE6CE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C03BC1-26DE-4EBA-A719-6BDE8669AB1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67085"/>
                </a:solidFill>
              </a:defRPr>
            </a:pPr>
            <a:r>
              <a:rPr sz="1400" b="1" dirty="0">
                <a:solidFill>
                  <a:srgbClr val="667085"/>
                </a:solidFill>
              </a:rPr>
              <a:t>ДАНІ ТА БЕЗПЕКА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5FDB03-5371-4DBE-8ED7-3B7CF68A4E2D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Безпека спирається на кілька незалежних рівнів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61C44C-9D0B-42C9-BF65-70AAE567B85B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10820400" cy="19050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4498A5-6E8D-4DF6-A882-E47EEDCD48E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124C54-6366-40EA-8C65-1E23C056815E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1000" b="0" dirty="0" err="1">
                <a:solidFill>
                  <a:srgbClr val="667085"/>
                </a:solidFill>
              </a:rPr>
              <a:t>Інформаційна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система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відстеження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завдань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та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досягнень</a:t>
            </a:r>
            <a:endParaRPr sz="1000" b="0" dirty="0">
              <a:solidFill>
                <a:srgbClr val="667085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7ABC5D-256A-4356-AE79-75D443FBAC36}"/>
              </a:ext>
            </a:extLst>
          </p:cNvPr>
          <p:cNvSpPr>
            <a:spLocks noGrp="1"/>
          </p:cNvSpPr>
          <p:nvPr/>
        </p:nvSpPr>
        <p:spPr>
          <a:xfrm>
            <a:off x="11029950" y="6534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lang="uk-UA" sz="1400" b="1" dirty="0">
                <a:solidFill>
                  <a:srgbClr val="667085"/>
                </a:solidFill>
              </a:rPr>
              <a:t>9</a:t>
            </a:r>
            <a:endParaRPr sz="1400" b="1" dirty="0">
              <a:solidFill>
                <a:srgbClr val="667085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7BEBA1-BB4A-4AC1-9FCA-1AB32FB26900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7429500" cy="4362450"/>
          </a:xfrm>
          <a:prstGeom prst="roundRect">
            <a:avLst>
              <a:gd name="adj" fmla="val 1747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9150" y="3097006"/>
            <a:ext cx="7162800" cy="1749838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C5B6F89-3DA7-47B5-A75D-D060DFCC5ECD}"/>
              </a:ext>
            </a:extLst>
          </p:cNvPr>
          <p:cNvSpPr>
            <a:spLocks noGrp="1"/>
          </p:cNvSpPr>
          <p:nvPr/>
        </p:nvSpPr>
        <p:spPr>
          <a:xfrm>
            <a:off x="8420100" y="1790700"/>
            <a:ext cx="3086100" cy="4362450"/>
          </a:xfrm>
          <a:prstGeom prst="roundRect">
            <a:avLst>
              <a:gd name="adj" fmla="val 2469"/>
            </a:avLst>
          </a:prstGeom>
          <a:solidFill>
            <a:srgbClr val="F5F7FA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D00DD9-51FD-4C22-B671-9C4CD0EFCEE3}"/>
              </a:ext>
            </a:extLst>
          </p:cNvPr>
          <p:cNvSpPr>
            <a:spLocks noGrp="1"/>
          </p:cNvSpPr>
          <p:nvPr/>
        </p:nvSpPr>
        <p:spPr>
          <a:xfrm>
            <a:off x="8686800" y="2076450"/>
            <a:ext cx="2552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Ключові механізми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17B92E1-0D04-4E3F-8662-ADC05FF86C48}"/>
              </a:ext>
            </a:extLst>
          </p:cNvPr>
          <p:cNvSpPr>
            <a:spLocks noGrp="1"/>
          </p:cNvSpPr>
          <p:nvPr/>
        </p:nvSpPr>
        <p:spPr>
          <a:xfrm>
            <a:off x="8686800" y="2781300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C7B7ED-3798-4D63-8C2A-11F5D292B4E1}"/>
              </a:ext>
            </a:extLst>
          </p:cNvPr>
          <p:cNvSpPr>
            <a:spLocks noGrp="1"/>
          </p:cNvSpPr>
          <p:nvPr/>
        </p:nvSpPr>
        <p:spPr>
          <a:xfrm>
            <a:off x="8915400" y="2686050"/>
            <a:ext cx="2247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bcrypt для паролів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4B725AC-E697-457F-83FC-CE0A2E495175}"/>
              </a:ext>
            </a:extLst>
          </p:cNvPr>
          <p:cNvSpPr>
            <a:spLocks noGrp="1"/>
          </p:cNvSpPr>
          <p:nvPr/>
        </p:nvSpPr>
        <p:spPr>
          <a:xfrm>
            <a:off x="8686800" y="3333750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D6C651-5BE7-43D4-9FD0-6C97FB1DCD5D}"/>
              </a:ext>
            </a:extLst>
          </p:cNvPr>
          <p:cNvSpPr>
            <a:spLocks noGrp="1"/>
          </p:cNvSpPr>
          <p:nvPr/>
        </p:nvSpPr>
        <p:spPr>
          <a:xfrm>
            <a:off x="8915400" y="3238500"/>
            <a:ext cx="2247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JWT access у пам’яті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7563F81-F783-4785-A891-1F2700E97395}"/>
              </a:ext>
            </a:extLst>
          </p:cNvPr>
          <p:cNvSpPr>
            <a:spLocks noGrp="1"/>
          </p:cNvSpPr>
          <p:nvPr/>
        </p:nvSpPr>
        <p:spPr>
          <a:xfrm>
            <a:off x="8686800" y="3886200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0069E0-8CFD-4422-AFDC-7A82459BB56F}"/>
              </a:ext>
            </a:extLst>
          </p:cNvPr>
          <p:cNvSpPr>
            <a:spLocks noGrp="1"/>
          </p:cNvSpPr>
          <p:nvPr/>
        </p:nvSpPr>
        <p:spPr>
          <a:xfrm>
            <a:off x="8915400" y="3790950"/>
            <a:ext cx="2247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HttpOnly refresh cookie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79F9625-F75F-4BD5-AC9E-5E9C4FC9BBEF}"/>
              </a:ext>
            </a:extLst>
          </p:cNvPr>
          <p:cNvSpPr>
            <a:spLocks noGrp="1"/>
          </p:cNvSpPr>
          <p:nvPr/>
        </p:nvSpPr>
        <p:spPr>
          <a:xfrm>
            <a:off x="8686800" y="4438650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9D8602-1EA7-464F-806C-DF1059BD77DD}"/>
              </a:ext>
            </a:extLst>
          </p:cNvPr>
          <p:cNvSpPr>
            <a:spLocks noGrp="1"/>
          </p:cNvSpPr>
          <p:nvPr/>
        </p:nvSpPr>
        <p:spPr>
          <a:xfrm>
            <a:off x="8915400" y="4343400"/>
            <a:ext cx="2247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SHA-256 для токенів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A39D30B-4124-4A77-96E7-E21F443FF0CE}"/>
              </a:ext>
            </a:extLst>
          </p:cNvPr>
          <p:cNvSpPr>
            <a:spLocks noGrp="1"/>
          </p:cNvSpPr>
          <p:nvPr/>
        </p:nvSpPr>
        <p:spPr>
          <a:xfrm>
            <a:off x="8686800" y="4991100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E0ABD1-D7C7-431F-A189-67B42ACD399F}"/>
              </a:ext>
            </a:extLst>
          </p:cNvPr>
          <p:cNvSpPr>
            <a:spLocks noGrp="1"/>
          </p:cNvSpPr>
          <p:nvPr/>
        </p:nvSpPr>
        <p:spPr>
          <a:xfrm>
            <a:off x="8915400" y="4895850"/>
            <a:ext cx="2247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RBAC, ownership, ролі груп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1F800B-1B24-4D43-A378-052CC5DBD6EE}"/>
              </a:ext>
            </a:extLst>
          </p:cNvPr>
          <p:cNvSpPr>
            <a:spLocks noGrp="1"/>
          </p:cNvSpPr>
          <p:nvPr/>
        </p:nvSpPr>
        <p:spPr>
          <a:xfrm>
            <a:off x="8686800" y="5676900"/>
            <a:ext cx="2552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F8A68"/>
                </a:solidFill>
              </a:defRPr>
            </a:pPr>
            <a:endParaRPr sz="1125" b="1" dirty="0">
              <a:solidFill>
                <a:srgbClr val="0F8A6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454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516841-4B0D-442B-AB1C-C1F3B03D30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8CF60F-59F3-4645-83CD-0BDCE93F184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67085"/>
                </a:solidFill>
              </a:defRPr>
            </a:pPr>
            <a:r>
              <a:rPr sz="1400" b="1" dirty="0">
                <a:solidFill>
                  <a:srgbClr val="667085"/>
                </a:solidFill>
              </a:rPr>
              <a:t>ПРИКЛАД РЕАЛІЗАЦІЇ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BA0FFA-CE16-49FB-BFED-0EA15DC57F7B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Виконання завдання перевіряється і фіксується транзакційно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427F39-D0B1-42A1-AAF0-4782365E56B9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10820400" cy="19050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8F1389-7035-43AF-9907-A0BB0ADDC761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ED93AE-1E0F-4D61-BF4B-5E4360BB4C42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1000" b="0" dirty="0" err="1">
                <a:solidFill>
                  <a:srgbClr val="667085"/>
                </a:solidFill>
              </a:rPr>
              <a:t>Інформаційна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система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відстеження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завдань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та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досягнень</a:t>
            </a:r>
            <a:endParaRPr sz="1000" b="0" dirty="0">
              <a:solidFill>
                <a:srgbClr val="667085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33F965-A69E-438F-82B3-D9332EB0F45C}"/>
              </a:ext>
            </a:extLst>
          </p:cNvPr>
          <p:cNvSpPr>
            <a:spLocks noGrp="1"/>
          </p:cNvSpPr>
          <p:nvPr/>
        </p:nvSpPr>
        <p:spPr>
          <a:xfrm>
            <a:off x="11029950" y="6534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1400" b="1" dirty="0">
                <a:solidFill>
                  <a:srgbClr val="667085"/>
                </a:solidFill>
              </a:rPr>
              <a:t>1</a:t>
            </a:r>
            <a:r>
              <a:rPr lang="uk-UA" sz="1400" b="1" dirty="0">
                <a:solidFill>
                  <a:srgbClr val="667085"/>
                </a:solidFill>
              </a:rPr>
              <a:t>0</a:t>
            </a:r>
            <a:endParaRPr sz="1400" b="1" dirty="0">
              <a:solidFill>
                <a:srgbClr val="667085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56ABE0-9219-4711-8695-6AB0181AF352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667085"/>
                </a:solidFill>
              </a:defRPr>
            </a:pPr>
            <a:r>
              <a:rPr sz="1425" b="0" dirty="0" err="1">
                <a:solidFill>
                  <a:srgbClr val="667085"/>
                </a:solidFill>
              </a:rPr>
              <a:t>Послідовність</a:t>
            </a:r>
            <a:r>
              <a:rPr sz="1425" b="0" dirty="0">
                <a:solidFill>
                  <a:srgbClr val="667085"/>
                </a:solidFill>
              </a:rPr>
              <a:t> </a:t>
            </a:r>
            <a:r>
              <a:rPr sz="1425" b="0" dirty="0" err="1">
                <a:solidFill>
                  <a:srgbClr val="667085"/>
                </a:solidFill>
              </a:rPr>
              <a:t>показує</a:t>
            </a:r>
            <a:r>
              <a:rPr sz="1425" b="0" dirty="0">
                <a:solidFill>
                  <a:srgbClr val="667085"/>
                </a:solidFill>
              </a:rPr>
              <a:t> </a:t>
            </a:r>
            <a:r>
              <a:rPr sz="1425" b="0" dirty="0" err="1">
                <a:solidFill>
                  <a:srgbClr val="667085"/>
                </a:solidFill>
              </a:rPr>
              <a:t>перевірку</a:t>
            </a:r>
            <a:r>
              <a:rPr sz="1425" b="0" dirty="0">
                <a:solidFill>
                  <a:srgbClr val="667085"/>
                </a:solidFill>
              </a:rPr>
              <a:t> </a:t>
            </a:r>
            <a:r>
              <a:rPr sz="1425" b="0" dirty="0" err="1">
                <a:solidFill>
                  <a:srgbClr val="667085"/>
                </a:solidFill>
              </a:rPr>
              <a:t>доступу</a:t>
            </a:r>
            <a:r>
              <a:rPr sz="1425" b="0" dirty="0">
                <a:solidFill>
                  <a:srgbClr val="667085"/>
                </a:solidFill>
              </a:rPr>
              <a:t>, </a:t>
            </a:r>
            <a:r>
              <a:rPr sz="1425" b="0" dirty="0" err="1">
                <a:solidFill>
                  <a:srgbClr val="667085"/>
                </a:solidFill>
              </a:rPr>
              <a:t>зміну</a:t>
            </a:r>
            <a:r>
              <a:rPr sz="1425" b="0" dirty="0">
                <a:solidFill>
                  <a:srgbClr val="667085"/>
                </a:solidFill>
              </a:rPr>
              <a:t> </a:t>
            </a:r>
            <a:r>
              <a:rPr sz="1425" b="0" dirty="0" err="1">
                <a:solidFill>
                  <a:srgbClr val="667085"/>
                </a:solidFill>
              </a:rPr>
              <a:t>стану</a:t>
            </a:r>
            <a:r>
              <a:rPr sz="1425" b="0" dirty="0">
                <a:solidFill>
                  <a:srgbClr val="667085"/>
                </a:solidFill>
              </a:rPr>
              <a:t>, </a:t>
            </a:r>
            <a:r>
              <a:rPr sz="1425" b="0" dirty="0" err="1">
                <a:solidFill>
                  <a:srgbClr val="667085"/>
                </a:solidFill>
              </a:rPr>
              <a:t>нарахування</a:t>
            </a:r>
            <a:r>
              <a:rPr sz="1425" b="0" dirty="0">
                <a:solidFill>
                  <a:srgbClr val="667085"/>
                </a:solidFill>
              </a:rPr>
              <a:t> XP </a:t>
            </a:r>
            <a:r>
              <a:rPr sz="1425" b="0" dirty="0" err="1">
                <a:solidFill>
                  <a:srgbClr val="667085"/>
                </a:solidFill>
              </a:rPr>
              <a:t>та</a:t>
            </a:r>
            <a:r>
              <a:rPr sz="1425" b="0" dirty="0">
                <a:solidFill>
                  <a:srgbClr val="667085"/>
                </a:solidFill>
              </a:rPr>
              <a:t> </a:t>
            </a:r>
            <a:r>
              <a:rPr sz="1425" b="0" dirty="0" err="1">
                <a:solidFill>
                  <a:srgbClr val="667085"/>
                </a:solidFill>
              </a:rPr>
              <a:t>створення</a:t>
            </a:r>
            <a:r>
              <a:rPr sz="1425" b="0" dirty="0">
                <a:solidFill>
                  <a:srgbClr val="667085"/>
                </a:solidFill>
              </a:rPr>
              <a:t> </a:t>
            </a:r>
            <a:r>
              <a:rPr sz="1425" b="0" dirty="0" err="1">
                <a:solidFill>
                  <a:srgbClr val="667085"/>
                </a:solidFill>
              </a:rPr>
              <a:t>події</a:t>
            </a:r>
            <a:r>
              <a:rPr sz="1425" b="0" dirty="0">
                <a:solidFill>
                  <a:srgbClr val="667085"/>
                </a:solidFill>
              </a:rPr>
              <a:t>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DF8ECF-3AAE-4EB9-B3BB-316CBE84BE81}"/>
              </a:ext>
            </a:extLst>
          </p:cNvPr>
          <p:cNvSpPr>
            <a:spLocks noGrp="1"/>
          </p:cNvSpPr>
          <p:nvPr/>
        </p:nvSpPr>
        <p:spPr>
          <a:xfrm>
            <a:off x="800100" y="2457450"/>
            <a:ext cx="10591800" cy="36576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80750" y="2590800"/>
            <a:ext cx="663050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890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4EE399-5C87-A377-1005-FDFBA60CA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7C14DCF-D28D-5DBE-B891-D1A545B729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DF02C5-F291-8FFC-2BA4-771EBABCB1B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67085"/>
                </a:solidFill>
              </a:defRPr>
            </a:pPr>
            <a:r>
              <a:rPr sz="1400" b="1" dirty="0">
                <a:solidFill>
                  <a:srgbClr val="667085"/>
                </a:solidFill>
              </a:rPr>
              <a:t>ІНТЕРФЕЙС КОРИСТУВАЧА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3DC3CB-27B9-E3D6-B585-59930BC2B60B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2700" b="1">
                <a:solidFill>
                  <a:srgbClr val="17202A"/>
                </a:solidFill>
              </a:defRPr>
            </a:pPr>
            <a:r>
              <a:rPr lang="en-US" sz="2700" b="1" dirty="0">
                <a:solidFill>
                  <a:srgbClr val="17202A"/>
                </a:solidFill>
              </a:rPr>
              <a:t>UI </a:t>
            </a:r>
            <a:r>
              <a:rPr lang="ru-RU" sz="2700" b="1" dirty="0" err="1">
                <a:solidFill>
                  <a:srgbClr val="17202A"/>
                </a:solidFill>
              </a:rPr>
              <a:t>Системи</a:t>
            </a:r>
            <a:r>
              <a:rPr lang="ru-RU" sz="2700" b="1" dirty="0">
                <a:solidFill>
                  <a:srgbClr val="17202A"/>
                </a:solidFill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F2462E-7AB2-8C61-77CA-ACBB9E1A2007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10820400" cy="19050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6242FB-FDE9-F580-8280-93E7A7F4302A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3057BD-BCFE-AA1A-CBBD-D2275E641843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1000" b="0" dirty="0" err="1">
                <a:solidFill>
                  <a:srgbClr val="667085"/>
                </a:solidFill>
              </a:rPr>
              <a:t>Інформаційна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система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відстеження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завдань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та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досягнень</a:t>
            </a:r>
            <a:endParaRPr sz="1000" b="0" dirty="0">
              <a:solidFill>
                <a:srgbClr val="667085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F4F9BB-1922-0B4D-596E-B1786885BF38}"/>
              </a:ext>
            </a:extLst>
          </p:cNvPr>
          <p:cNvSpPr>
            <a:spLocks noGrp="1"/>
          </p:cNvSpPr>
          <p:nvPr/>
        </p:nvSpPr>
        <p:spPr>
          <a:xfrm>
            <a:off x="11029950" y="6534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lang="uk-UA" sz="1400" b="1" dirty="0">
                <a:solidFill>
                  <a:srgbClr val="667085"/>
                </a:solidFill>
              </a:rPr>
              <a:t>11</a:t>
            </a:r>
            <a:endParaRPr sz="1400" b="1" dirty="0">
              <a:solidFill>
                <a:srgbClr val="667085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156859-5072-4526-5BD0-CA2EDD18D6FC}"/>
              </a:ext>
            </a:extLst>
          </p:cNvPr>
          <p:cNvSpPr>
            <a:spLocks noGrp="1"/>
          </p:cNvSpPr>
          <p:nvPr/>
        </p:nvSpPr>
        <p:spPr>
          <a:xfrm>
            <a:off x="685800" y="1847849"/>
            <a:ext cx="10820400" cy="4543425"/>
          </a:xfrm>
          <a:prstGeom prst="roundRect">
            <a:avLst>
              <a:gd name="adj" fmla="val 2516"/>
            </a:avLst>
          </a:prstGeom>
          <a:solidFill>
            <a:srgbClr val="F5F7FA"/>
          </a:solidFill>
          <a:ln w="19050">
            <a:solidFill>
              <a:srgbClr val="FFC4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BE2A24-E77A-6998-4383-6EAAAAF95F36}"/>
              </a:ext>
            </a:extLst>
          </p:cNvPr>
          <p:cNvSpPr>
            <a:spLocks noGrp="1"/>
          </p:cNvSpPr>
          <p:nvPr/>
        </p:nvSpPr>
        <p:spPr>
          <a:xfrm>
            <a:off x="4638675" y="202606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2A"/>
                </a:solidFill>
              </a:defRPr>
            </a:pPr>
            <a:r>
              <a:rPr sz="1350" b="1" dirty="0">
                <a:solidFill>
                  <a:srgbClr val="17202A"/>
                </a:solidFill>
              </a:rPr>
              <a:t>TODAY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7F57C4-21BC-16FC-127C-70F262524E09}"/>
              </a:ext>
            </a:extLst>
          </p:cNvPr>
          <p:cNvSpPr>
            <a:spLocks noGrp="1"/>
          </p:cNvSpPr>
          <p:nvPr/>
        </p:nvSpPr>
        <p:spPr>
          <a:xfrm>
            <a:off x="914400" y="4324350"/>
            <a:ext cx="2914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667085"/>
                </a:solidFill>
              </a:defRPr>
            </a:pPr>
            <a:endParaRPr sz="1050" b="0" dirty="0">
              <a:solidFill>
                <a:srgbClr val="667085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1250758-E9A7-5E0B-9271-EF74C2208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942" y="2349167"/>
            <a:ext cx="8691716" cy="395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6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72839F-1876-6A20-B1DC-E2BF237B8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EB92D11-B282-D982-04F5-6047419D18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73AF0D-0894-B0C9-7E1C-E7693642A44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67085"/>
                </a:solidFill>
              </a:defRPr>
            </a:pPr>
            <a:r>
              <a:rPr sz="1400" b="1" dirty="0">
                <a:solidFill>
                  <a:srgbClr val="667085"/>
                </a:solidFill>
              </a:rPr>
              <a:t>ІНТЕРФЕЙС КОРИСТУВАЧА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686A98-0282-A01E-16F9-97CA3CDCB7E5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2700" b="1">
                <a:solidFill>
                  <a:srgbClr val="17202A"/>
                </a:solidFill>
              </a:defRPr>
            </a:pPr>
            <a:r>
              <a:rPr lang="en-US" sz="2700" b="1" dirty="0">
                <a:solidFill>
                  <a:srgbClr val="17202A"/>
                </a:solidFill>
              </a:rPr>
              <a:t>UI </a:t>
            </a:r>
            <a:r>
              <a:rPr lang="ru-RU" sz="2700" b="1" dirty="0" err="1">
                <a:solidFill>
                  <a:srgbClr val="17202A"/>
                </a:solidFill>
              </a:rPr>
              <a:t>Системи</a:t>
            </a:r>
            <a:r>
              <a:rPr lang="ru-RU" sz="2700" b="1" dirty="0">
                <a:solidFill>
                  <a:srgbClr val="17202A"/>
                </a:solidFill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A72826-9550-9E49-F4A2-5BB68F12DB15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10820400" cy="19050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5D6B6D-1FD1-5A93-CAC1-92A3ED4BD16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0F6AC1-23F9-9715-6611-DB2BA18F776B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1000" b="0" dirty="0" err="1">
                <a:solidFill>
                  <a:srgbClr val="667085"/>
                </a:solidFill>
              </a:rPr>
              <a:t>Інформаційна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система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відстеження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завдань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та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досягнень</a:t>
            </a:r>
            <a:endParaRPr sz="1000" b="0" dirty="0">
              <a:solidFill>
                <a:srgbClr val="667085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876180-758B-5913-1971-5675D53DCE16}"/>
              </a:ext>
            </a:extLst>
          </p:cNvPr>
          <p:cNvSpPr>
            <a:spLocks noGrp="1"/>
          </p:cNvSpPr>
          <p:nvPr/>
        </p:nvSpPr>
        <p:spPr>
          <a:xfrm>
            <a:off x="11029950" y="6534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lang="uk-UA" sz="1400" b="1" dirty="0">
                <a:solidFill>
                  <a:srgbClr val="667085"/>
                </a:solidFill>
              </a:rPr>
              <a:t>12</a:t>
            </a:r>
            <a:endParaRPr sz="1400" b="1" dirty="0">
              <a:solidFill>
                <a:srgbClr val="667085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12E638A-B17A-9946-93E8-C6F29155F598}"/>
              </a:ext>
            </a:extLst>
          </p:cNvPr>
          <p:cNvSpPr>
            <a:spLocks noGrp="1"/>
          </p:cNvSpPr>
          <p:nvPr/>
        </p:nvSpPr>
        <p:spPr>
          <a:xfrm>
            <a:off x="685800" y="1847849"/>
            <a:ext cx="10820400" cy="4495801"/>
          </a:xfrm>
          <a:prstGeom prst="roundRect">
            <a:avLst>
              <a:gd name="adj" fmla="val 2516"/>
            </a:avLst>
          </a:prstGeom>
          <a:solidFill>
            <a:srgbClr val="F5F7FA"/>
          </a:solidFill>
          <a:ln w="19050">
            <a:solidFill>
              <a:srgbClr val="FFC4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971A2F-C66D-9CE7-3024-1A95EBAAB132}"/>
              </a:ext>
            </a:extLst>
          </p:cNvPr>
          <p:cNvSpPr>
            <a:spLocks noGrp="1"/>
          </p:cNvSpPr>
          <p:nvPr/>
        </p:nvSpPr>
        <p:spPr>
          <a:xfrm>
            <a:off x="4552950" y="211455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2A"/>
                </a:solidFill>
              </a:defRPr>
            </a:pPr>
            <a:r>
              <a:rPr sz="1350" b="1">
                <a:solidFill>
                  <a:srgbClr val="17202A"/>
                </a:solidFill>
              </a:rPr>
              <a:t>ГРУПОВА KANBAN-ДОШКА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F56FB76-76EC-CA79-5ADD-705E542C6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606" y="2438400"/>
            <a:ext cx="8042787" cy="385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452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59911B2-7475-4EA6-BDC2-2B4FF49573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93F0CB-FD11-49B8-807F-F272545EAA7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67085"/>
                </a:solidFill>
              </a:defRPr>
            </a:pPr>
            <a:r>
              <a:rPr sz="1400" b="1" dirty="0">
                <a:solidFill>
                  <a:srgbClr val="667085"/>
                </a:solidFill>
              </a:rPr>
              <a:t>ІНТЕРФЕЙС КОРИСТУВАЧА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082A93-72B1-4BED-88B8-704AA428FA24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</a:defRPr>
            </a:pPr>
            <a:r>
              <a:rPr lang="en-US" sz="2700" b="1" dirty="0">
                <a:solidFill>
                  <a:srgbClr val="17202A"/>
                </a:solidFill>
              </a:rPr>
              <a:t>UI</a:t>
            </a:r>
            <a:r>
              <a:rPr lang="uk-UA" sz="2700" b="1" dirty="0">
                <a:solidFill>
                  <a:srgbClr val="17202A"/>
                </a:solidFill>
              </a:rPr>
              <a:t> Системи</a:t>
            </a:r>
            <a:r>
              <a:rPr lang="en-US" sz="2700" b="1" dirty="0">
                <a:solidFill>
                  <a:srgbClr val="17202A"/>
                </a:solidFill>
              </a:rPr>
              <a:t> </a:t>
            </a:r>
            <a:endParaRPr sz="2700" b="1" dirty="0">
              <a:solidFill>
                <a:srgbClr val="17202A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2440D-B96A-4BB8-817A-195825DC8B9A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10820400" cy="19050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39C169-9A9B-4016-BC91-DD89DF20A96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6DC33C-D71D-4F23-9D7F-7028E7894B3A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1000" b="0" dirty="0" err="1">
                <a:solidFill>
                  <a:srgbClr val="667085"/>
                </a:solidFill>
              </a:rPr>
              <a:t>Інформаційна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система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відстеження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завдань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та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досягнень</a:t>
            </a:r>
            <a:endParaRPr sz="1000" b="0" dirty="0">
              <a:solidFill>
                <a:srgbClr val="667085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AF855B-D23F-4584-A49B-09B2F4CFA64D}"/>
              </a:ext>
            </a:extLst>
          </p:cNvPr>
          <p:cNvSpPr>
            <a:spLocks noGrp="1"/>
          </p:cNvSpPr>
          <p:nvPr/>
        </p:nvSpPr>
        <p:spPr>
          <a:xfrm>
            <a:off x="11029950" y="6534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1400" b="1" dirty="0">
                <a:solidFill>
                  <a:srgbClr val="667085"/>
                </a:solidFill>
              </a:rPr>
              <a:t>13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395FD20-A0C2-4CCF-B8B1-804D7AAF3309}"/>
              </a:ext>
            </a:extLst>
          </p:cNvPr>
          <p:cNvSpPr>
            <a:spLocks noGrp="1"/>
          </p:cNvSpPr>
          <p:nvPr/>
        </p:nvSpPr>
        <p:spPr>
          <a:xfrm>
            <a:off x="685800" y="1847849"/>
            <a:ext cx="10648950" cy="4524375"/>
          </a:xfrm>
          <a:prstGeom prst="roundRect">
            <a:avLst>
              <a:gd name="adj" fmla="val 2516"/>
            </a:avLst>
          </a:prstGeom>
          <a:solidFill>
            <a:srgbClr val="F5F7FA"/>
          </a:solidFill>
          <a:ln w="19050">
            <a:solidFill>
              <a:srgbClr val="FFC40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CDA03B-C16A-4F5F-B44C-F926BC577511}"/>
              </a:ext>
            </a:extLst>
          </p:cNvPr>
          <p:cNvSpPr>
            <a:spLocks noGrp="1"/>
          </p:cNvSpPr>
          <p:nvPr/>
        </p:nvSpPr>
        <p:spPr>
          <a:xfrm>
            <a:off x="4562475" y="1996563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202A"/>
                </a:solidFill>
              </a:defRPr>
            </a:pPr>
            <a:r>
              <a:rPr sz="1350" b="1" dirty="0">
                <a:solidFill>
                  <a:srgbClr val="17202A"/>
                </a:solidFill>
              </a:rPr>
              <a:t>STATISTICS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5A3F508-D099-2725-2674-9D337BCFF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962" y="2231595"/>
            <a:ext cx="6718625" cy="404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408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6909FC6-80D8-4846-A06E-175178FBB6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ABB5A1-A38F-4C3F-8744-D24BA5765BF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67085"/>
                </a:solidFill>
              </a:defRPr>
            </a:pPr>
            <a:r>
              <a:rPr sz="1400" b="1" dirty="0">
                <a:solidFill>
                  <a:srgbClr val="667085"/>
                </a:solidFill>
              </a:rPr>
              <a:t>ТЕСТУВАННЯ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633078-6738-45B9-B45E-E71CE828CEA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Ключові сценарії перевіряються автоматизованими тестами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5F58B7-1F7A-4847-8A49-78DB08F48DA5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10820400" cy="19050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6B6C28-0E0F-4428-849F-5B8F4CDAC407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456CE-4617-4DBC-A4AF-D09E74C74711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1000" b="0" dirty="0" err="1">
                <a:solidFill>
                  <a:srgbClr val="667085"/>
                </a:solidFill>
              </a:rPr>
              <a:t>Інформаційна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система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відстеження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завдань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та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досягнень</a:t>
            </a:r>
            <a:endParaRPr sz="1000" b="0" dirty="0">
              <a:solidFill>
                <a:srgbClr val="667085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F3CA25-4628-4C5A-B584-C1013F3B67E0}"/>
              </a:ext>
            </a:extLst>
          </p:cNvPr>
          <p:cNvSpPr>
            <a:spLocks noGrp="1"/>
          </p:cNvSpPr>
          <p:nvPr/>
        </p:nvSpPr>
        <p:spPr>
          <a:xfrm>
            <a:off x="11029950" y="6534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1400" b="1" dirty="0">
                <a:solidFill>
                  <a:srgbClr val="667085"/>
                </a:solidFill>
              </a:rPr>
              <a:t>14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CCA35-F48D-5E43-4D25-AC662C13B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917" y="1689186"/>
            <a:ext cx="8810165" cy="408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122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92B191E-444D-4568-9D5A-7093D9C558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B98D67-3959-438E-A6A4-5C0E1055DC2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67085"/>
                </a:solidFill>
              </a:defRPr>
            </a:pPr>
            <a:r>
              <a:rPr sz="1400" b="1" dirty="0">
                <a:solidFill>
                  <a:srgbClr val="667085"/>
                </a:solidFill>
              </a:rPr>
              <a:t>ВИСНОВКИ ТА РОЗВИТОК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372CAB-841B-4466-B4BD-E1771F2B1616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Система готова до навчального й командного використання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0DD33E-CFCD-4FFB-9AF8-C8EDACEF644D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10820400" cy="19050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C84681-03E4-402C-BA61-8DF4CA33FA1F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10820400" cy="9525"/>
          </a:xfrm>
          <a:prstGeom prst="rect">
            <a:avLst/>
          </a:prstGeom>
          <a:solidFill>
            <a:srgbClr val="D8DEE6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974683-1303-4057-A3C8-83206D229B9D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</a:defRPr>
            </a:pPr>
            <a:r>
              <a:rPr sz="1000" b="0" dirty="0" err="1">
                <a:solidFill>
                  <a:srgbClr val="667085"/>
                </a:solidFill>
              </a:rPr>
              <a:t>Інформаційна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система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відстеження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завдань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та</a:t>
            </a:r>
            <a:r>
              <a:rPr sz="1000" b="0" dirty="0">
                <a:solidFill>
                  <a:srgbClr val="667085"/>
                </a:solidFill>
              </a:rPr>
              <a:t> </a:t>
            </a:r>
            <a:r>
              <a:rPr sz="1000" b="0" dirty="0" err="1">
                <a:solidFill>
                  <a:srgbClr val="667085"/>
                </a:solidFill>
              </a:rPr>
              <a:t>досягнень</a:t>
            </a:r>
            <a:endParaRPr sz="1000" b="0" dirty="0">
              <a:solidFill>
                <a:srgbClr val="667085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C610B5-C8B1-429A-BEB4-128C483690EA}"/>
              </a:ext>
            </a:extLst>
          </p:cNvPr>
          <p:cNvSpPr>
            <a:spLocks noGrp="1"/>
          </p:cNvSpPr>
          <p:nvPr/>
        </p:nvSpPr>
        <p:spPr>
          <a:xfrm>
            <a:off x="11029950" y="6534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</a:defRPr>
            </a:pPr>
            <a:r>
              <a:rPr sz="1400" b="1" dirty="0">
                <a:solidFill>
                  <a:srgbClr val="667085"/>
                </a:solidFill>
              </a:rPr>
              <a:t>15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AF36D0-9623-4DAA-A1E1-F688E2B96566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5219700" cy="3905250"/>
          </a:xfrm>
          <a:prstGeom prst="roundRect">
            <a:avLst>
              <a:gd name="adj" fmla="val 1951"/>
            </a:avLst>
          </a:prstGeom>
          <a:solidFill>
            <a:srgbClr val="F5F7FA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2CF373-2ABF-413D-9EA1-DBF73B310F10}"/>
              </a:ext>
            </a:extLst>
          </p:cNvPr>
          <p:cNvSpPr>
            <a:spLocks noGrp="1"/>
          </p:cNvSpPr>
          <p:nvPr/>
        </p:nvSpPr>
        <p:spPr>
          <a:xfrm>
            <a:off x="990600" y="2152650"/>
            <a:ext cx="461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202A"/>
                </a:solidFill>
              </a:defRPr>
            </a:pPr>
            <a:r>
              <a:rPr sz="1950" b="1">
                <a:solidFill>
                  <a:srgbClr val="17202A"/>
                </a:solidFill>
              </a:rPr>
              <a:t>Результат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D666852-55DB-4FB1-AFF5-5B49D14739AA}"/>
              </a:ext>
            </a:extLst>
          </p:cNvPr>
          <p:cNvSpPr>
            <a:spLocks noGrp="1"/>
          </p:cNvSpPr>
          <p:nvPr/>
        </p:nvSpPr>
        <p:spPr>
          <a:xfrm>
            <a:off x="990600" y="2857500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537A47-B405-48DC-AC06-FA2807257141}"/>
              </a:ext>
            </a:extLst>
          </p:cNvPr>
          <p:cNvSpPr>
            <a:spLocks noGrp="1"/>
          </p:cNvSpPr>
          <p:nvPr/>
        </p:nvSpPr>
        <p:spPr>
          <a:xfrm>
            <a:off x="1219200" y="2762250"/>
            <a:ext cx="4229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Особисте планування й контроль прогресу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78C9F9E-3297-440C-BDC9-570818261C26}"/>
              </a:ext>
            </a:extLst>
          </p:cNvPr>
          <p:cNvSpPr>
            <a:spLocks noGrp="1"/>
          </p:cNvSpPr>
          <p:nvPr/>
        </p:nvSpPr>
        <p:spPr>
          <a:xfrm>
            <a:off x="990600" y="3486150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DC09C8-8FED-464C-B800-6A8982D538A0}"/>
              </a:ext>
            </a:extLst>
          </p:cNvPr>
          <p:cNvSpPr>
            <a:spLocks noGrp="1"/>
          </p:cNvSpPr>
          <p:nvPr/>
        </p:nvSpPr>
        <p:spPr>
          <a:xfrm>
            <a:off x="1219200" y="3390900"/>
            <a:ext cx="4229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Навчальні команди та невеликі проєкти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C6E3D4C-D0E1-4A4E-9405-487B9F4CA1E1}"/>
              </a:ext>
            </a:extLst>
          </p:cNvPr>
          <p:cNvSpPr>
            <a:spLocks noGrp="1"/>
          </p:cNvSpPr>
          <p:nvPr/>
        </p:nvSpPr>
        <p:spPr>
          <a:xfrm>
            <a:off x="990600" y="4114800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DD2004-6EBA-4AAD-ABE4-ADFAB3F0D080}"/>
              </a:ext>
            </a:extLst>
          </p:cNvPr>
          <p:cNvSpPr>
            <a:spLocks noGrp="1"/>
          </p:cNvSpPr>
          <p:nvPr/>
        </p:nvSpPr>
        <p:spPr>
          <a:xfrm>
            <a:off x="1219200" y="4019550"/>
            <a:ext cx="4229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Повний цикл: план → виконання → винагорода → аналітика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D43B7D0-7557-4182-9033-86A80AB75006}"/>
              </a:ext>
            </a:extLst>
          </p:cNvPr>
          <p:cNvSpPr>
            <a:spLocks noGrp="1"/>
          </p:cNvSpPr>
          <p:nvPr/>
        </p:nvSpPr>
        <p:spPr>
          <a:xfrm>
            <a:off x="990600" y="4953000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861905-F001-423A-A2E9-816153F8F5C0}"/>
              </a:ext>
            </a:extLst>
          </p:cNvPr>
          <p:cNvSpPr>
            <a:spLocks noGrp="1"/>
          </p:cNvSpPr>
          <p:nvPr/>
        </p:nvSpPr>
        <p:spPr>
          <a:xfrm>
            <a:off x="1219200" y="4857750"/>
            <a:ext cx="4229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Соціальна взаємодія та групова координація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74A19C7-8C35-49F2-84C0-E2168B63A5A4}"/>
              </a:ext>
            </a:extLst>
          </p:cNvPr>
          <p:cNvSpPr>
            <a:spLocks noGrp="1"/>
          </p:cNvSpPr>
          <p:nvPr/>
        </p:nvSpPr>
        <p:spPr>
          <a:xfrm>
            <a:off x="6286500" y="1866900"/>
            <a:ext cx="5219700" cy="3905250"/>
          </a:xfrm>
          <a:prstGeom prst="roundRect">
            <a:avLst>
              <a:gd name="adj" fmla="val 1951"/>
            </a:avLst>
          </a:prstGeom>
          <a:solidFill>
            <a:srgbClr val="17202A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CFB021-9616-47C1-ADD4-6DDFF2A9A39E}"/>
              </a:ext>
            </a:extLst>
          </p:cNvPr>
          <p:cNvSpPr>
            <a:spLocks noGrp="1"/>
          </p:cNvSpPr>
          <p:nvPr/>
        </p:nvSpPr>
        <p:spPr>
          <a:xfrm>
            <a:off x="6591300" y="2152650"/>
            <a:ext cx="4610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Подальший розвиток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B36C8CF-1953-4C32-8AB4-EE0A9C5630EF}"/>
              </a:ext>
            </a:extLst>
          </p:cNvPr>
          <p:cNvSpPr>
            <a:spLocks noGrp="1"/>
          </p:cNvSpPr>
          <p:nvPr/>
        </p:nvSpPr>
        <p:spPr>
          <a:xfrm>
            <a:off x="6591300" y="2857500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124716-D244-40E9-83D3-485C3AE3D566}"/>
              </a:ext>
            </a:extLst>
          </p:cNvPr>
          <p:cNvSpPr>
            <a:spLocks noGrp="1"/>
          </p:cNvSpPr>
          <p:nvPr/>
        </p:nvSpPr>
        <p:spPr>
          <a:xfrm>
            <a:off x="6819900" y="2762250"/>
            <a:ext cx="4229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Rate limiting і CSP / security headers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F71CF5E-721A-4288-988F-9B14D3B49AC1}"/>
              </a:ext>
            </a:extLst>
          </p:cNvPr>
          <p:cNvSpPr>
            <a:spLocks noGrp="1"/>
          </p:cNvSpPr>
          <p:nvPr/>
        </p:nvSpPr>
        <p:spPr>
          <a:xfrm>
            <a:off x="6591300" y="3486150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158DD3-5022-4DC0-BD48-A8B07ACB0BBB}"/>
              </a:ext>
            </a:extLst>
          </p:cNvPr>
          <p:cNvSpPr>
            <a:spLocks noGrp="1"/>
          </p:cNvSpPr>
          <p:nvPr/>
        </p:nvSpPr>
        <p:spPr>
          <a:xfrm>
            <a:off x="6819900" y="3390900"/>
            <a:ext cx="4229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Перевірка вмісту файлів і повна Alembic-міграція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0553391-CD0C-476E-BF03-FF89DD10DF8E}"/>
              </a:ext>
            </a:extLst>
          </p:cNvPr>
          <p:cNvSpPr>
            <a:spLocks noGrp="1"/>
          </p:cNvSpPr>
          <p:nvPr/>
        </p:nvSpPr>
        <p:spPr>
          <a:xfrm>
            <a:off x="6591300" y="4267200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AD7497-1D6C-44B3-80F9-E25BC625C050}"/>
              </a:ext>
            </a:extLst>
          </p:cNvPr>
          <p:cNvSpPr>
            <a:spLocks noGrp="1"/>
          </p:cNvSpPr>
          <p:nvPr/>
        </p:nvSpPr>
        <p:spPr>
          <a:xfrm>
            <a:off x="6819900" y="4171950"/>
            <a:ext cx="4229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Резервні копії та фонові черги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B0C6025-EE37-4779-98A3-C9E30FB291C3}"/>
              </a:ext>
            </a:extLst>
          </p:cNvPr>
          <p:cNvSpPr>
            <a:spLocks noGrp="1"/>
          </p:cNvSpPr>
          <p:nvPr/>
        </p:nvSpPr>
        <p:spPr>
          <a:xfrm>
            <a:off x="6591300" y="4895850"/>
            <a:ext cx="95250" cy="95250"/>
          </a:xfrm>
          <a:prstGeom prst="ellipse">
            <a:avLst/>
          </a:prstGeom>
          <a:solidFill>
            <a:srgbClr val="FFC400"/>
          </a:solidFill>
          <a:ln w="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35E712-D4C9-487B-B48B-129D2E31E146}"/>
              </a:ext>
            </a:extLst>
          </p:cNvPr>
          <p:cNvSpPr>
            <a:spLocks noGrp="1"/>
          </p:cNvSpPr>
          <p:nvPr/>
        </p:nvSpPr>
        <p:spPr>
          <a:xfrm>
            <a:off x="6819900" y="4800600"/>
            <a:ext cx="4229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Push-сповіщення й масштабування аналітики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21696C-68E6-4CD1-9F13-1B6A083487FA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1082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Momentum поєднує інженерну надійність із практичною мотивацією користувача.</a:t>
            </a:r>
          </a:p>
        </p:txBody>
      </p:sp>
    </p:spTree>
    <p:extLst>
      <p:ext uri="{BB962C8B-B14F-4D97-AF65-F5344CB8AC3E}">
        <p14:creationId xmlns:p14="http://schemas.microsoft.com/office/powerpoint/2010/main" val="17893574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2833</TotalTime>
  <Words>588</Words>
  <Application>Microsoft Office PowerPoint</Application>
  <DocSecurity>0</DocSecurity>
  <PresentationFormat>Widescreen</PresentationFormat>
  <Paragraphs>123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Вадим Глинський</cp:lastModifiedBy>
  <cp:revision>2</cp:revision>
  <dcterms:created xsi:type="dcterms:W3CDTF">2026-07-04T13:26:56Z</dcterms:created>
  <dcterms:modified xsi:type="dcterms:W3CDTF">2026-07-08T09:25:10Z</dcterms:modified>
</cp:coreProperties>
</file>